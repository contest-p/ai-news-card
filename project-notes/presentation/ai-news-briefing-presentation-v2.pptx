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856b43cacb4732" /><Relationship Type="http://schemas.openxmlformats.org/officeDocument/2006/relationships/extended-properties" Target="/docProps/app.xml" Id="R39a339935fa641e9" /><Relationship Type="http://schemas.openxmlformats.org/officeDocument/2006/relationships/officeDocument" Target="/ppt/presentation.xml" Id="R0fa3e262531e4f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212f6cbb340ee"/>
  </p:sldMasterIdLst>
  <p:notesMasterIdLst>
    <p:notesMasterId xmlns:r="http://schemas.openxmlformats.org/officeDocument/2006/relationships" r:id="R791a8c9e74984751"/>
  </p:notesMasterIdLst>
  <p:sldIdLst>
    <p:sldId xmlns:r="http://schemas.openxmlformats.org/officeDocument/2006/relationships" id="256" r:id="R33f9adc89b5d4ec9"/>
    <p:sldId xmlns:r="http://schemas.openxmlformats.org/officeDocument/2006/relationships" id="257" r:id="R89e7c7bb3ae7455e"/>
    <p:sldId xmlns:r="http://schemas.openxmlformats.org/officeDocument/2006/relationships" id="258" r:id="Rbc08ae8b9c3542d9"/>
    <p:sldId xmlns:r="http://schemas.openxmlformats.org/officeDocument/2006/relationships" id="259" r:id="Rcaca7d92350e44fe"/>
    <p:sldId xmlns:r="http://schemas.openxmlformats.org/officeDocument/2006/relationships" id="260" r:id="R89be1d4460534695"/>
    <p:sldId xmlns:r="http://schemas.openxmlformats.org/officeDocument/2006/relationships" id="261" r:id="R002a8701deb54875"/>
    <p:sldId xmlns:r="http://schemas.openxmlformats.org/officeDocument/2006/relationships" id="262" r:id="R1f3559e5cc144a7c"/>
    <p:sldId xmlns:r="http://schemas.openxmlformats.org/officeDocument/2006/relationships" id="263" r:id="R2b21f4bff12f4de3"/>
    <p:sldId xmlns:r="http://schemas.openxmlformats.org/officeDocument/2006/relationships" id="264" r:id="R93390d137b2046a4"/>
    <p:sldId xmlns:r="http://schemas.openxmlformats.org/officeDocument/2006/relationships" id="265" r:id="R6cd9c22a715049b6"/>
    <p:sldId xmlns:r="http://schemas.openxmlformats.org/officeDocument/2006/relationships" id="266" r:id="Ra66418f2c1784d72"/>
    <p:sldId xmlns:r="http://schemas.openxmlformats.org/officeDocument/2006/relationships" id="267" r:id="R8d52a3a98f2f44ec"/>
    <p:sldId xmlns:r="http://schemas.openxmlformats.org/officeDocument/2006/relationships" id="268" r:id="R5d9a93c35fb94bcd"/>
    <p:sldId xmlns:r="http://schemas.openxmlformats.org/officeDocument/2006/relationships" id="269" r:id="Rd3c988fcf6504281"/>
    <p:sldId xmlns:r="http://schemas.openxmlformats.org/officeDocument/2006/relationships" id="270" r:id="R99799c4774144a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e4d9d7fdf543dd" /><Relationship Type="http://schemas.openxmlformats.org/officeDocument/2006/relationships/slideMaster" Target="/ppt/slideMasters/slideMaster1.xml" Id="R923212f6cbb340ee" /><Relationship Type="http://schemas.openxmlformats.org/officeDocument/2006/relationships/notesMaster" Target="/ppt/notesMasters/notesMaster1.xml" Id="R791a8c9e74984751" /><Relationship Type="http://schemas.openxmlformats.org/officeDocument/2006/relationships/presProps" Target="/ppt/presProps.xml" Id="Rdf31fc832e9b4232" /><Relationship Type="http://schemas.openxmlformats.org/officeDocument/2006/relationships/tableStyles" Target="/ppt/tableStyles.xml" Id="R0aa1b59d65884576" /><Relationship Type="http://schemas.openxmlformats.org/officeDocument/2006/relationships/slide" Target="/ppt/slides/slide1.xml" Id="R33f9adc89b5d4ec9" /><Relationship Type="http://schemas.openxmlformats.org/officeDocument/2006/relationships/slide" Target="/ppt/slides/slide2.xml" Id="R89e7c7bb3ae7455e" /><Relationship Type="http://schemas.openxmlformats.org/officeDocument/2006/relationships/slide" Target="/ppt/slides/slide3.xml" Id="Rbc08ae8b9c3542d9" /><Relationship Type="http://schemas.openxmlformats.org/officeDocument/2006/relationships/slide" Target="/ppt/slides/slide4.xml" Id="Rcaca7d92350e44fe" /><Relationship Type="http://schemas.openxmlformats.org/officeDocument/2006/relationships/slide" Target="/ppt/slides/slide5.xml" Id="R89be1d4460534695" /><Relationship Type="http://schemas.openxmlformats.org/officeDocument/2006/relationships/slide" Target="/ppt/slides/slide6.xml" Id="R002a8701deb54875" /><Relationship Type="http://schemas.openxmlformats.org/officeDocument/2006/relationships/slide" Target="/ppt/slides/slide7.xml" Id="R1f3559e5cc144a7c" /><Relationship Type="http://schemas.openxmlformats.org/officeDocument/2006/relationships/slide" Target="/ppt/slides/slide8.xml" Id="R2b21f4bff12f4de3" /><Relationship Type="http://schemas.openxmlformats.org/officeDocument/2006/relationships/slide" Target="/ppt/slides/slide9.xml" Id="R93390d137b2046a4" /><Relationship Type="http://schemas.openxmlformats.org/officeDocument/2006/relationships/slide" Target="/ppt/slides/slide10.xml" Id="R6cd9c22a715049b6" /><Relationship Type="http://schemas.openxmlformats.org/officeDocument/2006/relationships/slide" Target="/ppt/slides/slide11.xml" Id="Ra66418f2c1784d72" /><Relationship Type="http://schemas.openxmlformats.org/officeDocument/2006/relationships/slide" Target="/ppt/slides/slide12.xml" Id="R8d52a3a98f2f44ec" /><Relationship Type="http://schemas.openxmlformats.org/officeDocument/2006/relationships/slide" Target="/ppt/slides/slide13.xml" Id="R5d9a93c35fb94bcd" /><Relationship Type="http://schemas.openxmlformats.org/officeDocument/2006/relationships/slide" Target="/ppt/slides/slide14.xml" Id="Rd3c988fcf6504281" /><Relationship Type="http://schemas.openxmlformats.org/officeDocument/2006/relationships/slide" Target="/ppt/slides/slide15.xml" Id="R99799c4774144a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ed359dee994b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36145c62664280" /><Relationship Type="http://schemas.openxmlformats.org/officeDocument/2006/relationships/notesMaster" Target="/ppt/notesMasters/notesMaster1.xml" Id="Re5880980f5d548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bbae31d16a433c" /><Relationship Type="http://schemas.openxmlformats.org/officeDocument/2006/relationships/notesMaster" Target="/ppt/notesMasters/notesMaster1.xml" Id="R3306e425fdf849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d7b31b9a9c4857" /><Relationship Type="http://schemas.openxmlformats.org/officeDocument/2006/relationships/notesMaster" Target="/ppt/notesMasters/notesMaster1.xml" Id="R041c09b7424042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4335624b514e21" /><Relationship Type="http://schemas.openxmlformats.org/officeDocument/2006/relationships/notesMaster" Target="/ppt/notesMasters/notesMaster1.xml" Id="Rc55e7e1a3ac14d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75dab7dd054213" /><Relationship Type="http://schemas.openxmlformats.org/officeDocument/2006/relationships/notesMaster" Target="/ppt/notesMasters/notesMaster1.xml" Id="R3cb730b5804f49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dbb81dee76451b" /><Relationship Type="http://schemas.openxmlformats.org/officeDocument/2006/relationships/notesMaster" Target="/ppt/notesMasters/notesMaster1.xml" Id="R69598b77704a4d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e59513601340c9" /><Relationship Type="http://schemas.openxmlformats.org/officeDocument/2006/relationships/notesMaster" Target="/ppt/notesMasters/notesMaster1.xml" Id="Rb5475382762841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6a4db020fe434c" /><Relationship Type="http://schemas.openxmlformats.org/officeDocument/2006/relationships/notesMaster" Target="/ppt/notesMasters/notesMaster1.xml" Id="R5d52d54fa94847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d8d411702b40d0" /><Relationship Type="http://schemas.openxmlformats.org/officeDocument/2006/relationships/notesMaster" Target="/ppt/notesMasters/notesMaster1.xml" Id="Rb107ab1a1c4345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aa1fc4e71f4c15" /><Relationship Type="http://schemas.openxmlformats.org/officeDocument/2006/relationships/notesMaster" Target="/ppt/notesMasters/notesMaster1.xml" Id="Ref4726d0372c49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9c4dd7a0714a99" /><Relationship Type="http://schemas.openxmlformats.org/officeDocument/2006/relationships/notesMaster" Target="/ppt/notesMasters/notesMaster1.xml" Id="R8a858677b57a41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7f0cb0b64447bc" /><Relationship Type="http://schemas.openxmlformats.org/officeDocument/2006/relationships/notesMaster" Target="/ppt/notesMasters/notesMaster1.xml" Id="R0ab0333cdd094c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763caed8f94b1b" /><Relationship Type="http://schemas.openxmlformats.org/officeDocument/2006/relationships/notesMaster" Target="/ppt/notesMasters/notesMaster1.xml" Id="R346d99ebd79447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5f36c7dc424f41" /><Relationship Type="http://schemas.openxmlformats.org/officeDocument/2006/relationships/notesMaster" Target="/ppt/notesMasters/notesMaster1.xml" Id="Rffd69870169e4d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5c80f2b1824ed9" /><Relationship Type="http://schemas.openxmlformats.org/officeDocument/2006/relationships/notesMaster" Target="/ppt/notesMasters/notesMaster1.xml" Id="Rb2f60bd0fcc2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목적과 대상: 사용자 요청 및 docs/02_프로젝트_기획서_개인화_뉴스_브리핑.md 1절. 역할: 동일 문서 12절.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 제공 기획 의도와 README.md의 프로젝트 목적에 근거한 가설이다. 사용자 조사나 절감 시간 측정 결과를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요청, 기획서 1·3·4절, REQUIREMENTS.md FR-01~06. 실제 수신 주소는 직접 이메일 입력이 아니라 Google 로그인 계정의 이메일이다. 시간은 KST이며 정기 발송은 가입 다음 날부터다.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직접 방문·화면 캡처: https://ai-news-card-frontend.vercel.app/ 및 /login, 2026-10-10 KST. assets/06-landing-action.jpg, assets/02-login.jpg. 랜딩에서 구독 시작 버튼 클릭으로 로그인 페이지 이동을 확인했다. 로그인 완료·구독 저장·메일 수신은 이번 관찰에서 확인하지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직접 방문·화면 캡처: https://ai-news-card-frontend.vercel.app/service, 2026-10-10 KST. assets/05-card-detail.jpg. 샘플 선택에서 핵심 1장/최대 길이 2장 전환을 확인했다. 사이트는 연결 확인용 가상 데이터라고 명시하므로 실제 뉴스 생성·메일 수신 증거로 사용하지 않는다. 구현: frontend/card-template.js, engine/card_images.py.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Gmail 메일을 2026-10-10 KST 직접 열어 확인했다. 메일 제목: [뉴스 브리핑] 2026.10.10 · 오늘의 관심 뉴스. 본문의 관심 키워드 AI, 카드 이미지, 출처·원문 링크, 피드백·구독 관리 링크를 확인했다. assets/07-email-top.jpg 및 assets/08-email-links.jpg. 개인정보가 있는 Gmail 헤더는 캡처에서 제외했다. 링크 클릭·피드백 제출·구독 변경은 수행하지 않았다. 이 메일 한 건의 수신 확인이며 수신율이나 정기 발송 전체 검증 결과는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engine/runtime.py run_connected, engine/selection.py select_article, engine/card_builder.py GenerationCardBuilder, engine/pipeline.py, engine/mail_assembly.py. 기획서의 자유 요약 표현보다 현재 발췌 기반 코드 동작을 우선했다.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engine/card_prompt.py SYSTEM 및 PROMPT_VERSION, engine/cards.py 검증 함수, engine/generation.py, engine/localization.py. LLM은 발췌 기반 카드 JSON을 생성하며 한국어 변환은 별도 단계다. 개인화 선별은 규칙이며 피드백 학습은 구현되어 있다고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engine/embeddings.py E5Encoder 및 MODEL_REVISION, engine/firestore_rag.py FirestoreRagStore, engine/card_builder.py. 기획서 6·7절: 한국어 검색과 로컬 CPU 접근 선택 이유. 0.85는 코드 기본값이며 검증된 정확도 수치가 아니다. 검색 점수는 1 - cosine distance. 실제 RAG 사용자 효용 결과는 아직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REQUIREMENTS.md 6절, backend/pyproject.toml, frontend/vercel.json, engine/runtime.py, .github/workflows/engine-mail.yml 및 privacy-cleanup.yml. 프론트와 백엔드는 별도 Vercel 프로젝트, SMTP는 Actions 엔진 경로다.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기획서 7-1 기술 선택·대안·근거 및 5절, 현재 코드 frontend 화면/카드 템플릿, backend/pyproject.toml, engine/embeddings.py, engine/tools/render_cards.cjs와 card_render.py, .github/workflows/engine-mail.yml. 기술 선택 목적이지 비용 절감·성능 향상 측정 결과가 아니다. Vercel은 최신 구현에 맞춰 반영했다.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engine/delivery.py, engine/firestore_runtime_store.py, engine/pipeline.py, engine/generation.py, backend/preview_mail.py, .github/workflows/engine-mail.yml, .github/workflows/privacy-cleanup.yml. 구현된 정책 설명이며 실서비스 가용률·수신율 측정 결과가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서비스: https://ai-news-card-frontend.vercel.app/ . 저장소: https://github.com/contest-p/ai-news-card . 2026-10-10 직접 확인한 공개 웹 화면과 로컬 저장소 코드·기획서를 바탕으로 구성했으며 사용자 테스트 결과는 비워 두었다.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c0353a4744f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5d7c3e07b4c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c5529294540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90c65189b4f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cbcb39efe4b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b434f8d324b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5CDFD5-6309-45A8-97E5-DDEB20AAF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5B2E4C-DB5F-4E71-ACAC-1C6E3987C3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D3690A-2F03-47A6-BD71-8CD10B74B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53C3BF-D3D9-4AB9-A37D-1FDC578CB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393566-54BA-4DE3-9793-0A388C5F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AC1898-BA34-4C94-9CFE-FCB8240BD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49A6D0-7D28-4A2E-ADA4-6B5797886A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1F26C7-BA3E-4206-8318-719C93798B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305344-06DB-478A-9F01-CEDD57BB0D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01BCE5-D4E1-4A1B-82AD-AE1442C9F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c48963bc74461" /><Relationship Type="http://schemas.openxmlformats.org/officeDocument/2006/relationships/slideLayout" Target="/ppt/slideLayouts/slideLayout1.xml" Id="R6dd41de3413f410f" /><Relationship Type="http://schemas.openxmlformats.org/officeDocument/2006/relationships/slideLayout" Target="/ppt/slideLayouts/slideLayout2.xml" Id="R3f8733c04b404479" /><Relationship Type="http://schemas.openxmlformats.org/officeDocument/2006/relationships/slideLayout" Target="/ppt/slideLayouts/slideLayout3.xml" Id="R97eeeff7cd2d4213" /><Relationship Type="http://schemas.openxmlformats.org/officeDocument/2006/relationships/slideLayout" Target="/ppt/slideLayouts/slideLayout4.xml" Id="Rc1f0cb0de3494366" /><Relationship Type="http://schemas.openxmlformats.org/officeDocument/2006/relationships/slideLayout" Target="/ppt/slideLayouts/slideLayout5.xml" Id="R860ce50efe7b4230" /><Relationship Type="http://schemas.openxmlformats.org/officeDocument/2006/relationships/slideLayout" Target="/ppt/slideLayouts/slideLayout6.xml" Id="R10cee178115f4e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d41de3413f410f"/>
    <p:sldLayoutId xmlns:r="http://schemas.openxmlformats.org/officeDocument/2006/relationships" id="2147483650" r:id="R3f8733c04b404479"/>
    <p:sldLayoutId xmlns:r="http://schemas.openxmlformats.org/officeDocument/2006/relationships" id="2147483651" r:id="R97eeeff7cd2d4213"/>
    <p:sldLayoutId xmlns:r="http://schemas.openxmlformats.org/officeDocument/2006/relationships" id="2147483652" r:id="Rc1f0cb0de3494366"/>
    <p:sldLayoutId xmlns:r="http://schemas.openxmlformats.org/officeDocument/2006/relationships" id="2147483653" r:id="R860ce50efe7b4230"/>
    <p:sldLayoutId xmlns:r="http://schemas.openxmlformats.org/officeDocument/2006/relationships" id="2147483654" r:id="R10cee178115f4e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d627403ce41d4" /><Relationship Type="http://schemas.openxmlformats.org/officeDocument/2006/relationships/notesSlide" Target="/ppt/notesSlides/notesSlide1.xml" Id="R4b5678063e0e45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2a68e840d4545" /><Relationship Type="http://schemas.openxmlformats.org/officeDocument/2006/relationships/notesSlide" Target="/ppt/notesSlides/notesSlide2.xml" Id="Ra7db79181a5143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211782f3441bb" /><Relationship Type="http://schemas.openxmlformats.org/officeDocument/2006/relationships/notesSlide" Target="/ppt/notesSlides/notesSlide3.xml" Id="R3716df8a7bcb48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b91167f924f12" /><Relationship Type="http://schemas.openxmlformats.org/officeDocument/2006/relationships/image" Target="/ppt/media/image.jpeg" Id="R078de26129ac4e08" /><Relationship Type="http://schemas.openxmlformats.org/officeDocument/2006/relationships/image" Target="/ppt/media/image2.jpeg" Id="R10b534e3a79e4c7c" /><Relationship Type="http://schemas.openxmlformats.org/officeDocument/2006/relationships/notesSlide" Target="/ppt/notesSlides/notesSlide4.xml" Id="R890790d951354b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fae2b55e54a79" /><Relationship Type="http://schemas.openxmlformats.org/officeDocument/2006/relationships/image" Target="/ppt/media/image3.jpeg" Id="Rebda1e787acc4bde" /><Relationship Type="http://schemas.openxmlformats.org/officeDocument/2006/relationships/notesSlide" Target="/ppt/notesSlides/notesSlide5.xml" Id="R2718ea3277ab49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f595d3dd24200" /><Relationship Type="http://schemas.openxmlformats.org/officeDocument/2006/relationships/image" Target="/ppt/media/image4.jpeg" Id="Ra9e3ab17c0164e4d" /><Relationship Type="http://schemas.openxmlformats.org/officeDocument/2006/relationships/image" Target="/ppt/media/image5.jpeg" Id="Rf959cd3b85b64bb1" /><Relationship Type="http://schemas.openxmlformats.org/officeDocument/2006/relationships/notesSlide" Target="/ppt/notesSlides/notesSlide6.xml" Id="R293b6278dc8745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7d6f263c04f0c" /><Relationship Type="http://schemas.openxmlformats.org/officeDocument/2006/relationships/notesSlide" Target="/ppt/notesSlides/notesSlide7.xml" Id="R91efca03012a44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9fad5d47748f2" /><Relationship Type="http://schemas.openxmlformats.org/officeDocument/2006/relationships/notesSlide" Target="/ppt/notesSlides/notesSlide8.xml" Id="Rfdf3b0bde64f44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2cb90eb9a473c" /><Relationship Type="http://schemas.openxmlformats.org/officeDocument/2006/relationships/notesSlide" Target="/ppt/notesSlides/notesSlide9.xml" Id="R127ed03130c442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8ca54b2fc4085" /><Relationship Type="http://schemas.openxmlformats.org/officeDocument/2006/relationships/notesSlide" Target="/ppt/notesSlides/notesSlide10.xml" Id="R698142e3ba044c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60cd933fe4c5e" /><Relationship Type="http://schemas.openxmlformats.org/officeDocument/2006/relationships/notesSlide" Target="/ppt/notesSlides/notesSlide11.xml" Id="R09a744e174e745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e766794764380" /><Relationship Type="http://schemas.openxmlformats.org/officeDocument/2006/relationships/notesSlide" Target="/ppt/notesSlides/notesSlide12.xml" Id="R4000212a7b8b42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c3eea9fd34254" /><Relationship Type="http://schemas.openxmlformats.org/officeDocument/2006/relationships/notesSlide" Target="/ppt/notesSlides/notesSlide13.xml" Id="Rfbc73e0fe47c46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bf1e6cee64d40" /><Relationship Type="http://schemas.openxmlformats.org/officeDocument/2006/relationships/notesSlide" Target="/ppt/notesSlides/notesSlide14.xml" Id="Rb3e04c5879a645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1ed0a1c464a01" /><Relationship Type="http://schemas.openxmlformats.org/officeDocument/2006/relationships/hyperlink" Target="https://ai-news-card-frontend.vercel.app/" TargetMode="External" Id="Rdf15aea2615f4d76" /><Relationship Type="http://schemas.openxmlformats.org/officeDocument/2006/relationships/hyperlink" Target="https://github.com/contest-p/ai-news-card" TargetMode="External" Id="R5e1120266fa54c37" /><Relationship Type="http://schemas.openxmlformats.org/officeDocument/2006/relationships/notesSlide" Target="/ppt/notesSlides/notesSlide15.xml" Id="R51cbc14ebd0145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46854398-6EC8-47D1-B2C7-C0882E5F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개인화 뉴스 브리핑">
            <a:extLst xmlns:a="http://schemas.openxmlformats.org/drawingml/2006/main">
              <a:ext uri="{FF2B5EF4-FFF2-40B4-BE49-F238E27FC236}">
                <a16:creationId xmlns:a16="http://schemas.microsoft.com/office/drawing/2014/main" id="{5E6B7397-F28C-4A93-BFD3-181C31ED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개인화 뉴스 브리핑</a:t>
            </a:r>
          </a:p>
        </p:txBody>
      </p:sp>
      <p:sp>
        <p:nvSpPr>
          <p:cNvPr id="3" name="원하는 뉴스를, 선택한 시간에 이메일로">
            <a:extLst xmlns:a="http://schemas.openxmlformats.org/drawingml/2006/main">
              <a:ext uri="{FF2B5EF4-FFF2-40B4-BE49-F238E27FC236}">
                <a16:creationId xmlns:a16="http://schemas.microsoft.com/office/drawing/2014/main" id="{D10D2F6F-67BD-4751-B6E6-E833EA67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FFC475"/>
                </a:solidFill>
                <a:latin typeface="Malgun Gothic"/>
                <a:ea typeface="Malgun Gothic"/>
                <a:cs typeface="Malgun Gothic"/>
              </a:rPr>
              <a:t>원하는 뉴스를, 선택한 시간에 이메일로</a:t>
            </a:r>
          </a:p>
        </p:txBody>
      </p:sp>
      <p:sp>
        <p:nvSpPr>
          <p:cNvPr id="4" name="AI 기반 이메일 구독 서비스">
            <a:extLst xmlns:a="http://schemas.openxmlformats.org/drawingml/2006/main">
              <a:ext uri="{FF2B5EF4-FFF2-40B4-BE49-F238E27FC236}">
                <a16:creationId xmlns:a16="http://schemas.microsoft.com/office/drawing/2014/main" id="{90A5B9A4-B61F-404F-9B8C-F06FA66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rPr>
              <a:t>AI 기반 이메일 구독 서비스</a:t>
            </a:r>
          </a:p>
        </p:txBody>
      </p:sp>
      <p:sp>
        <p:nvSpPr>
          <p:cNvPr id="5" name="박경연 · 고승희 · 김현서 · 윤지민">
            <a:extLst xmlns:a="http://schemas.openxmlformats.org/drawingml/2006/main">
              <a:ext uri="{FF2B5EF4-FFF2-40B4-BE49-F238E27FC236}">
                <a16:creationId xmlns:a16="http://schemas.microsoft.com/office/drawing/2014/main" id="{4DF0EAFE-A440-4566-9067-1D9598A7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rPr>
              <a:t>박경연 · 고승희 · 김현서 · 윤지민</a:t>
            </a:r>
          </a:p>
        </p:txBody>
      </p:sp>
    </p:spTree>
    <p:extLst>
      <p:ext uri="{BB962C8B-B14F-4D97-AF65-F5344CB8AC3E}">
        <p14:creationId xmlns:p14="http://schemas.microsoft.com/office/powerpoint/2010/main" val="1066185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문제 정의">
            <a:extLst xmlns:a="http://schemas.openxmlformats.org/drawingml/2006/main">
              <a:ext uri="{FF2B5EF4-FFF2-40B4-BE49-F238E27FC236}">
                <a16:creationId xmlns:a16="http://schemas.microsoft.com/office/drawing/2014/main" id="{E9AC9567-40E9-41BD-8B61-E9C27061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0C455629-E777-475F-9F17-7779FD2D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뉴스 자동화의 구축과 운영이&#10;사용자의 부담으로 남습니다">
            <a:extLst xmlns:a="http://schemas.openxmlformats.org/drawingml/2006/main">
              <a:ext uri="{FF2B5EF4-FFF2-40B4-BE49-F238E27FC236}">
                <a16:creationId xmlns:a16="http://schemas.microsoft.com/office/drawing/2014/main" id="{DAAEF522-EB4C-4DDF-AD54-086EDE7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뉴스 자동화의 구축과 운영이</a:t>
            </a:r>
          </a:p>
          <a:p xmlns:a="http://schemas.openxmlformats.org/drawingml/2006/main">
            <a:pPr>
              <a:def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사용자의 부담으로 남습니다</a:t>
            </a:r>
          </a:p>
        </p:txBody>
      </p:sp>
      <p:sp>
        <p:nvSpPr>
          <p:cNvPr id="4" name="코드와 노코드 도구로 원하는 뉴스를 받을 수 있지만,&#10;수집 경로">
            <a:extLst xmlns:a="http://schemas.openxmlformats.org/drawingml/2006/main">
              <a:ext uri="{FF2B5EF4-FFF2-40B4-BE49-F238E27FC236}">
                <a16:creationId xmlns:a16="http://schemas.microsoft.com/office/drawing/2014/main" id="{25143F47-1869-4509-B822-C383957C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코드와 노코드 도구로 원하는 뉴스를 받을 수 있지만,</a:t>
            </a:r>
          </a:p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수집 경로와 요약 방식, 예약 발송을 연결하고 관리해야 합니다.</a:t>
            </a:r>
          </a:p>
        </p:txBody>
      </p:sp>
      <p:sp>
        <p:nvSpPr>
          <p:cNvPr id="5" name="구축 과정">
            <a:extLst xmlns:a="http://schemas.openxmlformats.org/drawingml/2006/main">
              <a:ext uri="{FF2B5EF4-FFF2-40B4-BE49-F238E27FC236}">
                <a16:creationId xmlns:a16="http://schemas.microsoft.com/office/drawing/2014/main" id="{B642CD6D-5F99-41FD-8AFC-88DA376D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구축 과정</a:t>
            </a:r>
          </a:p>
        </p:txBody>
      </p:sp>
      <p:sp>
        <p:nvSpPr>
          <p:cNvPr id="6" name="도구 선택    수집·요약 연결    발송 설정    오류 대응">
            <a:extLst xmlns:a="http://schemas.openxmlformats.org/drawingml/2006/main">
              <a:ext uri="{FF2B5EF4-FFF2-40B4-BE49-F238E27FC236}">
                <a16:creationId xmlns:a16="http://schemas.microsoft.com/office/drawing/2014/main" id="{FD4A51FD-2897-4DC5-AB60-72BC09C6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도구 선택    수집·요약 연결    발송 설정    오류 대응·관리</a:t>
            </a:r>
          </a:p>
        </p:txBody>
      </p:sp>
    </p:spTree>
    <p:extLst>
      <p:ext uri="{BB962C8B-B14F-4D97-AF65-F5344CB8AC3E}">
        <p14:creationId xmlns:p14="http://schemas.microsoft.com/office/powerpoint/2010/main" val="2044534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해결 접근과 이용 흐름">
            <a:extLst xmlns:a="http://schemas.openxmlformats.org/drawingml/2006/main">
              <a:ext uri="{FF2B5EF4-FFF2-40B4-BE49-F238E27FC236}">
                <a16:creationId xmlns:a16="http://schemas.microsoft.com/office/drawing/2014/main" id="{A51D6AF7-89F2-4B68-8FB7-85883F1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해결 접근과 이용 흐름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A7C7F0BF-6E0A-406A-8D61-6FF0591C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구축과 운영은 서비스가 맡고,&#10;사용자는 원하는 뉴스와 시간을 선">
            <a:extLst xmlns:a="http://schemas.openxmlformats.org/drawingml/2006/main">
              <a:ext uri="{FF2B5EF4-FFF2-40B4-BE49-F238E27FC236}">
                <a16:creationId xmlns:a16="http://schemas.microsoft.com/office/drawing/2014/main" id="{2C0EFFE5-7D18-4D66-BE38-F05F3FD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구축과 운영은 서비스가 맡고,</a:t>
            </a:r>
          </a:p>
          <a:p xmlns:a="http://schemas.openxmlformats.org/drawingml/2006/main">
            <a:pPr>
              <a:def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사용자는 원하는 뉴스와 시간을 선택합니다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469281E4-E05B-45EF-9F4E-DF1C3A9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Google 로그인">
            <a:extLst xmlns:a="http://schemas.openxmlformats.org/drawingml/2006/main">
              <a:ext uri="{FF2B5EF4-FFF2-40B4-BE49-F238E27FC236}">
                <a16:creationId xmlns:a16="http://schemas.microsoft.com/office/drawing/2014/main" id="{2E056929-801B-4AE0-9058-50A711D6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Google 로그인</a:t>
            </a:r>
          </a:p>
        </p:txBody>
      </p:sp>
      <p:sp>
        <p:nvSpPr>
          <p:cNvPr id="6" name="로그인 계정의 이메일을 수신 주소로 사용">
            <a:extLst xmlns:a="http://schemas.openxmlformats.org/drawingml/2006/main">
              <a:ext uri="{FF2B5EF4-FFF2-40B4-BE49-F238E27FC236}">
                <a16:creationId xmlns:a16="http://schemas.microsoft.com/office/drawing/2014/main" id="{BAFB9371-BA13-4C8C-969E-2B71FEBA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62300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로그인 계정의 이메일을 수신 주소로 사용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52BAF36-C73D-4AA0-91AC-3B877E67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뉴스 주제 선택">
            <a:extLst xmlns:a="http://schemas.openxmlformats.org/drawingml/2006/main">
              <a:ext uri="{FF2B5EF4-FFF2-40B4-BE49-F238E27FC236}">
                <a16:creationId xmlns:a16="http://schemas.microsoft.com/office/drawing/2014/main" id="{9ACA1FFD-3613-408E-A23A-038C30CC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8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뉴스 주제 선택</a:t>
            </a:r>
          </a:p>
        </p:txBody>
      </p:sp>
      <p:sp>
        <p:nvSpPr>
          <p:cNvPr id="9" name="관심 분야와 선택 키워드 설정">
            <a:extLst xmlns:a="http://schemas.openxmlformats.org/drawingml/2006/main">
              <a:ext uri="{FF2B5EF4-FFF2-40B4-BE49-F238E27FC236}">
                <a16:creationId xmlns:a16="http://schemas.microsoft.com/office/drawing/2014/main" id="{6D2A08A3-B1E4-43E2-9C1D-E64EE98B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57625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관심 분야와 선택 키워드 설정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F004FA23-675A-48C5-AC8D-DDA374D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시간·기간 선택">
            <a:extLst xmlns:a="http://schemas.openxmlformats.org/drawingml/2006/main">
              <a:ext uri="{FF2B5EF4-FFF2-40B4-BE49-F238E27FC236}">
                <a16:creationId xmlns:a16="http://schemas.microsoft.com/office/drawing/2014/main" id="{C3813876-1DA7-4AFD-BBAC-64BB0354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시간·기간 선택</a:t>
            </a:r>
          </a:p>
        </p:txBody>
      </p:sp>
      <p:sp>
        <p:nvSpPr>
          <p:cNvPr id="12" name="한국 시간 0~23시, 1·2·4주">
            <a:extLst xmlns:a="http://schemas.openxmlformats.org/drawingml/2006/main">
              <a:ext uri="{FF2B5EF4-FFF2-40B4-BE49-F238E27FC236}">
                <a16:creationId xmlns:a16="http://schemas.microsoft.com/office/drawing/2014/main" id="{398B410A-B098-437A-8682-88510A3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한국 시간 0~23시, 1·2·4주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75510547-B6A5-48A5-9287-577E72FD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이메일 수신">
            <a:extLst xmlns:a="http://schemas.openxmlformats.org/drawingml/2006/main">
              <a:ext uri="{FF2B5EF4-FFF2-40B4-BE49-F238E27FC236}">
                <a16:creationId xmlns:a16="http://schemas.microsoft.com/office/drawing/2014/main" id="{92261D1B-16B8-4082-B8A4-CACB2DFF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292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이메일 수신</a:t>
            </a:r>
          </a:p>
        </p:txBody>
      </p:sp>
      <p:sp>
        <p:nvSpPr>
          <p:cNvPr id="15" name="다음 날부터 정기 발송, 웹에서 설정·해제">
            <a:extLst xmlns:a="http://schemas.openxmlformats.org/drawingml/2006/main">
              <a:ext uri="{FF2B5EF4-FFF2-40B4-BE49-F238E27FC236}">
                <a16:creationId xmlns:a16="http://schemas.microsoft.com/office/drawing/2014/main" id="{8030A45D-1E0D-4302-A743-82E3CEE1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48275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다음 날부터 정기 발송, 웹에서 설정·해제</a:t>
            </a:r>
          </a:p>
        </p:txBody>
      </p:sp>
    </p:spTree>
    <p:extLst>
      <p:ext uri="{BB962C8B-B14F-4D97-AF65-F5344CB8AC3E}">
        <p14:creationId xmlns:p14="http://schemas.microsoft.com/office/powerpoint/2010/main" val="1479428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배포 화면과 로그인 동선">
            <a:extLst xmlns:a="http://schemas.openxmlformats.org/drawingml/2006/main">
              <a:ext uri="{FF2B5EF4-FFF2-40B4-BE49-F238E27FC236}">
                <a16:creationId xmlns:a16="http://schemas.microsoft.com/office/drawing/2014/main" id="{27670574-DAE1-4D74-ACEB-A0F00EA9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배포 화면과 로그인 동선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0EE4487D-C6DB-43DC-AB12-2ED474D2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구독 시작과 Google 로그인">
            <a:extLst xmlns:a="http://schemas.openxmlformats.org/drawingml/2006/main">
              <a:ext uri="{FF2B5EF4-FFF2-40B4-BE49-F238E27FC236}">
                <a16:creationId xmlns:a16="http://schemas.microsoft.com/office/drawing/2014/main" id="{607B8FA0-E604-4AC8-BD1A-4361FD9E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구독 시작과 Google 로그인</a:t>
            </a:r>
          </a:p>
        </p:txBody>
      </p:sp>
      <p:sp>
        <p:nvSpPr>
          <p:cNvPr id="4" name="랜딩에서 구독을 시작하면&#10;Google 로그인 화면으로 이동합니다">
            <a:extLst xmlns:a="http://schemas.openxmlformats.org/drawingml/2006/main">
              <a:ext uri="{FF2B5EF4-FFF2-40B4-BE49-F238E27FC236}">
                <a16:creationId xmlns:a16="http://schemas.microsoft.com/office/drawing/2014/main" id="{8A0E5350-6297-4A4A-8347-6F283582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랜딩에서 구독을 시작하면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Google 로그인 화면으로 이동합니다.</a:t>
            </a:r>
          </a:p>
        </p:txBody>
      </p:sp>
      <p:sp>
        <p:nvSpPr>
          <p:cNvPr id="5" name="계정 이메일을 사용하므로&#10;수신 주소를 따로 입력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D861041F-F198-4873-A5A0-2D859B73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계정 이메일을 사용하므로</a:t>
            </a:r>
          </a:p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수신 주소를 따로 입력하지 않습니다.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11BEC-304E-4E38-B2AE-A64D9930C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de26129ac4e08"/>
          <a:stretch xmlns:a="http://schemas.openxmlformats.org/drawingml/2006/main"/>
        </p:blipFill>
        <p:spPr>
          <a:xfrm xmlns:a="http://schemas.openxmlformats.org/drawingml/2006/main">
            <a:off x="5471709" y="1657350"/>
            <a:ext cx="2839257" cy="40957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1DD8F-2810-4C09-BBC6-41FF5B227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534e3a79e4c7c"/>
          <a:stretch xmlns:a="http://schemas.openxmlformats.org/drawingml/2006/main"/>
        </p:blipFill>
        <p:spPr>
          <a:xfrm xmlns:a="http://schemas.openxmlformats.org/drawingml/2006/main">
            <a:off x="8662584" y="1657350"/>
            <a:ext cx="2839257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배포 사이트 실제 캡처 · 로그인 전 화면">
            <a:extLst xmlns:a="http://schemas.openxmlformats.org/drawingml/2006/main">
              <a:ext uri="{FF2B5EF4-FFF2-40B4-BE49-F238E27FC236}">
                <a16:creationId xmlns:a16="http://schemas.microsoft.com/office/drawing/2014/main" id="{490A0C8C-1D9D-4959-8D45-AB207BCC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8674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배포 사이트 실제 캡처 · 로그인 전 화면</a:t>
            </a:r>
          </a:p>
        </p:txBody>
      </p:sp>
    </p:spTree>
    <p:extLst>
      <p:ext uri="{BB962C8B-B14F-4D97-AF65-F5344CB8AC3E}">
        <p14:creationId xmlns:p14="http://schemas.microsoft.com/office/powerpoint/2010/main" val="1143816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뉴스 카드 표현">
            <a:extLst xmlns:a="http://schemas.openxmlformats.org/drawingml/2006/main">
              <a:ext uri="{FF2B5EF4-FFF2-40B4-BE49-F238E27FC236}">
                <a16:creationId xmlns:a16="http://schemas.microsoft.com/office/drawing/2014/main" id="{8B69AA07-09BD-4340-96C8-D4B43507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뉴스 카드 표현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C88239DB-CCC0-405E-9D45-E1AF7AAC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오늘의 핵심과 필요한 배경">
            <a:extLst xmlns:a="http://schemas.openxmlformats.org/drawingml/2006/main">
              <a:ext uri="{FF2B5EF4-FFF2-40B4-BE49-F238E27FC236}">
                <a16:creationId xmlns:a16="http://schemas.microsoft.com/office/drawing/2014/main" id="{4C398A9A-54E5-45A3-9069-977431CD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오늘의 핵심과 필요한 배경</a:t>
            </a:r>
          </a:p>
        </p:txBody>
      </p:sp>
      <p:sp>
        <p:nvSpPr>
          <p:cNvPr id="4" name="핵심 카드 1장에 원문 출처를 표시합니다.&#10;유효한 과거 근거가 ">
            <a:extLst xmlns:a="http://schemas.openxmlformats.org/drawingml/2006/main">
              <a:ext uri="{FF2B5EF4-FFF2-40B4-BE49-F238E27FC236}">
                <a16:creationId xmlns:a16="http://schemas.microsoft.com/office/drawing/2014/main" id="{80410437-519C-41E0-8AEA-9BCE9EF4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핵심 카드 1장에 원문 출처를 표시합니다.</a:t>
            </a:r>
          </a:p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유효한 과거 근거가 있으면 배경 카드를</a:t>
            </a:r>
          </a:p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최대 1장 추가합니다.</a:t>
            </a:r>
          </a:p>
        </p:txBody>
      </p:sp>
      <p:sp>
        <p:nvSpPr>
          <p:cNvPr id="5" name="AI 표시와 원문 링크를 함께 제공합니다.&#10;이미지 렌더링 실패 ">
            <a:extLst xmlns:a="http://schemas.openxmlformats.org/drawingml/2006/main">
              <a:ext uri="{FF2B5EF4-FFF2-40B4-BE49-F238E27FC236}">
                <a16:creationId xmlns:a16="http://schemas.microsoft.com/office/drawing/2014/main" id="{18EF0D1F-7921-4391-990C-9A0F2C1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38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AI 표시와 원문 링크를 함께 제공합니다.</a:t>
            </a:r>
          </a:p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이미지 렌더링 실패 시 텍스트로 대체합니다.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FAD5D-EB05-4507-82D8-150FBC4CD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a1e787acc4bde"/>
          <a:stretch xmlns:a="http://schemas.openxmlformats.org/drawingml/2006/main"/>
        </p:blipFill>
        <p:spPr>
          <a:xfrm xmlns:a="http://schemas.openxmlformats.org/drawingml/2006/main">
            <a:off x="8059684" y="1476375"/>
            <a:ext cx="3235433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사이트의 가상 샘플 · 실제 뉴스·수신 결과 아님">
            <a:extLst xmlns:a="http://schemas.openxmlformats.org/drawingml/2006/main">
              <a:ext uri="{FF2B5EF4-FFF2-40B4-BE49-F238E27FC236}">
                <a16:creationId xmlns:a16="http://schemas.microsoft.com/office/drawing/2014/main" id="{6B5ADF9C-8A0B-48F6-8E31-80828790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719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사이트의 가상 샘플 · 실제 뉴스·수신 결과 아님</a:t>
            </a:r>
          </a:p>
        </p:txBody>
      </p:sp>
    </p:spTree>
    <p:extLst>
      <p:ext uri="{BB962C8B-B14F-4D97-AF65-F5344CB8AC3E}">
        <p14:creationId xmlns:p14="http://schemas.microsoft.com/office/powerpoint/2010/main" val="1410241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실제 이메일 수신 화면">
            <a:extLst xmlns:a="http://schemas.openxmlformats.org/drawingml/2006/main">
              <a:ext uri="{FF2B5EF4-FFF2-40B4-BE49-F238E27FC236}">
                <a16:creationId xmlns:a16="http://schemas.microsoft.com/office/drawing/2014/main" id="{D16488E6-CA8F-4D09-B325-B173CB5A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실제 이메일 수신 화면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3C14840C-7288-4D19-A231-A634D4F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9F43E-4C31-42B6-8E22-F506FB3AD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3ab17c0164e4d"/>
          <a:stretch xmlns:a="http://schemas.openxmlformats.org/drawingml/2006/main"/>
        </p:blipFill>
        <p:spPr>
          <a:xfrm xmlns:a="http://schemas.openxmlformats.org/drawingml/2006/main">
            <a:off x="685835" y="1657350"/>
            <a:ext cx="5219631" cy="47529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6D4A2-7F6C-4C4C-8683-81B571BE9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9cd3b85b64bb1"/>
          <a:stretch xmlns:a="http://schemas.openxmlformats.org/drawingml/2006/main"/>
        </p:blipFill>
        <p:spPr>
          <a:xfrm xmlns:a="http://schemas.openxmlformats.org/drawingml/2006/main">
            <a:off x="6381750" y="2073406"/>
            <a:ext cx="5124450" cy="2434962"/>
          </a:xfrm>
          <a:prstGeom xmlns:a="http://schemas.openxmlformats.org/drawingml/2006/main" prst="rect">
            <a:avLst/>
          </a:prstGeom>
        </p:spPr>
      </p:pic>
      <p:sp>
        <p:nvSpPr>
          <p:cNvPr id="5" name="원문 확인과 피드백 동선">
            <a:extLst xmlns:a="http://schemas.openxmlformats.org/drawingml/2006/main">
              <a:ext uri="{FF2B5EF4-FFF2-40B4-BE49-F238E27FC236}">
                <a16:creationId xmlns:a16="http://schemas.microsoft.com/office/drawing/2014/main" id="{31BCE254-3E98-4D41-B725-214C2FC1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원문 확인과 피드백 동선</a:t>
            </a:r>
          </a:p>
        </p:txBody>
      </p:sp>
      <p:sp>
        <p:nvSpPr>
          <p:cNvPr id="6" name="수신 메일 본문 실제 캡처 · 2026.10.10&#10;사용자 피드백">
            <a:extLst xmlns:a="http://schemas.openxmlformats.org/drawingml/2006/main">
              <a:ext uri="{FF2B5EF4-FFF2-40B4-BE49-F238E27FC236}">
                <a16:creationId xmlns:a16="http://schemas.microsoft.com/office/drawing/2014/main" id="{067E288A-09DD-4FA4-B111-2DE1F9DC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34050"/>
            <a:ext cx="512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수신 메일 본문 실제 캡처 · 2026.10.10</a:t>
            </a:r>
          </a:p>
          <a:p xmlns:a="http://schemas.openxmlformats.org/drawingml/2006/main">
            <a: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사용자 피드백 결과는 아직 작성하지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83324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핵심 처리 과정">
            <a:extLst xmlns:a="http://schemas.openxmlformats.org/drawingml/2006/main">
              <a:ext uri="{FF2B5EF4-FFF2-40B4-BE49-F238E27FC236}">
                <a16:creationId xmlns:a16="http://schemas.microsoft.com/office/drawing/2014/main" id="{EF423162-A51C-49F5-88A7-DF7FA72B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핵심 처리 과정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29DEF331-3A7D-45AD-B517-8017508C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DFF93BDE-E548-4BF1-AAC3-C2700968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수집·저장">
            <a:extLst xmlns:a="http://schemas.openxmlformats.org/drawingml/2006/main">
              <a:ext uri="{FF2B5EF4-FFF2-40B4-BE49-F238E27FC236}">
                <a16:creationId xmlns:a16="http://schemas.microsoft.com/office/drawing/2014/main" id="{2F45FEEF-32EB-4E4D-BAD8-5F2E6B07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145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수집·저장</a:t>
            </a:r>
          </a:p>
        </p:txBody>
      </p:sp>
      <p:sp>
        <p:nvSpPr>
          <p:cNvPr id="5" name="RSS와 기사 본문·날짜·분야를 검사하고 저장">
            <a:extLst xmlns:a="http://schemas.openxmlformats.org/drawingml/2006/main">
              <a:ext uri="{FF2B5EF4-FFF2-40B4-BE49-F238E27FC236}">
                <a16:creationId xmlns:a16="http://schemas.microsoft.com/office/drawing/2014/main" id="{CCBB4B5A-0E4F-4916-9149-652E1F0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43075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RSS와 기사 본문·날짜·분야를 검사하고 저장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4BAA15D7-134F-4371-841C-A63EF3C3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개인화 선별">
            <a:extLst xmlns:a="http://schemas.openxmlformats.org/drawingml/2006/main">
              <a:ext uri="{FF2B5EF4-FFF2-40B4-BE49-F238E27FC236}">
                <a16:creationId xmlns:a16="http://schemas.microsoft.com/office/drawing/2014/main" id="{C4C9A378-47B5-43B7-9910-31648F96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622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개인화 선별</a:t>
            </a:r>
          </a:p>
        </p:txBody>
      </p:sp>
      <p:sp>
        <p:nvSpPr>
          <p:cNvPr id="8" name="최근 24시간 후보에서 키워드 우선, 없으면 관심 분야로 대체">
            <a:extLst xmlns:a="http://schemas.openxmlformats.org/drawingml/2006/main">
              <a:ext uri="{FF2B5EF4-FFF2-40B4-BE49-F238E27FC236}">
                <a16:creationId xmlns:a16="http://schemas.microsoft.com/office/drawing/2014/main" id="{F9DDDF87-4F25-4F72-9A37-3C0A6D26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90800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최근 24시간 후보에서 키워드 우선, 없으면 관심 분야로 대체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7A2073B-FE2D-4D2F-B7CC-2FA03C1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과거 근거 검색">
            <a:extLst xmlns:a="http://schemas.openxmlformats.org/drawingml/2006/main">
              <a:ext uri="{FF2B5EF4-FFF2-40B4-BE49-F238E27FC236}">
                <a16:creationId xmlns:a16="http://schemas.microsoft.com/office/drawing/2014/main" id="{6D8D3971-BCBC-4FB0-8CF2-EFA794EB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099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과거 근거 검색</a:t>
            </a:r>
          </a:p>
        </p:txBody>
      </p:sp>
      <p:sp>
        <p:nvSpPr>
          <p:cNvPr id="11" name="동일 분야의 유효한 과거 기사에서 배경 근거 검색">
            <a:extLst xmlns:a="http://schemas.openxmlformats.org/drawingml/2006/main">
              <a:ext uri="{FF2B5EF4-FFF2-40B4-BE49-F238E27FC236}">
                <a16:creationId xmlns:a16="http://schemas.microsoft.com/office/drawing/2014/main" id="{67297FC9-61DC-4BFF-8020-03F99DD8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38525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동일 분야의 유효한 과거 기사에서 배경 근거 검색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A4A36AFD-D0D4-498B-8B46-CB3887C0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AI 생성·검사">
            <a:extLst xmlns:a="http://schemas.openxmlformats.org/drawingml/2006/main">
              <a:ext uri="{FF2B5EF4-FFF2-40B4-BE49-F238E27FC236}">
                <a16:creationId xmlns:a16="http://schemas.microsoft.com/office/drawing/2014/main" id="{502414A1-F936-4033-AD8C-C3864C18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576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AI 생성·검사</a:t>
            </a:r>
          </a:p>
        </p:txBody>
      </p:sp>
      <p:sp>
        <p:nvSpPr>
          <p:cNvPr id="14" name="원문 발췌 카드 JSON을 생성하고 구조·근거·수치를 검사">
            <a:extLst xmlns:a="http://schemas.openxmlformats.org/drawingml/2006/main">
              <a:ext uri="{FF2B5EF4-FFF2-40B4-BE49-F238E27FC236}">
                <a16:creationId xmlns:a16="http://schemas.microsoft.com/office/drawing/2014/main" id="{899AC964-FFC0-4C8B-8202-89236195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86250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원문 발췌 카드 JSON을 생성하고 구조·근거·수치를 검사</a:t>
            </a:r>
          </a:p>
        </p:txBody>
      </p:sp>
      <p:sp>
        <p:nvSpPr>
          <p:cNvPr id="15" name="05">
            <a:extLst xmlns:a="http://schemas.openxmlformats.org/drawingml/2006/main">
              <a:ext uri="{FF2B5EF4-FFF2-40B4-BE49-F238E27FC236}">
                <a16:creationId xmlns:a16="http://schemas.microsoft.com/office/drawing/2014/main" id="{F1F8FC19-C12F-465B-A524-01DA44A6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6" name="표현·전송">
            <a:extLst xmlns:a="http://schemas.openxmlformats.org/drawingml/2006/main">
              <a:ext uri="{FF2B5EF4-FFF2-40B4-BE49-F238E27FC236}">
                <a16:creationId xmlns:a16="http://schemas.microsoft.com/office/drawing/2014/main" id="{9A89509C-DAFE-4A65-80C0-B4C6580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054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표현·전송</a:t>
            </a:r>
          </a:p>
        </p:txBody>
      </p:sp>
      <p:sp>
        <p:nvSpPr>
          <p:cNvPr id="17" name="필요한 한국어 변환, 이미지 렌더링, 개인별 메일 조립·SMTP">
            <a:extLst xmlns:a="http://schemas.openxmlformats.org/drawingml/2006/main">
              <a:ext uri="{FF2B5EF4-FFF2-40B4-BE49-F238E27FC236}">
                <a16:creationId xmlns:a16="http://schemas.microsoft.com/office/drawing/2014/main" id="{4D06E6CF-4098-46EB-8544-D292B839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33975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필요한 한국어 변환, 이미지 렌더링, 개인별 메일 조립·SMTP</a:t>
            </a:r>
          </a:p>
        </p:txBody>
      </p:sp>
    </p:spTree>
    <p:extLst>
      <p:ext uri="{BB962C8B-B14F-4D97-AF65-F5344CB8AC3E}">
        <p14:creationId xmlns:p14="http://schemas.microsoft.com/office/powerpoint/2010/main" val="1275506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생성형 AI의 역할과 검증">
            <a:extLst xmlns:a="http://schemas.openxmlformats.org/drawingml/2006/main">
              <a:ext uri="{FF2B5EF4-FFF2-40B4-BE49-F238E27FC236}">
                <a16:creationId xmlns:a16="http://schemas.microsoft.com/office/drawing/2014/main" id="{6E92E7E6-00EE-4E3C-9776-607411C9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생성형 AI의 역할과 검증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37D3FCB5-53C8-494E-9D89-B92EC29D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LLM이 수행하는 작업">
            <a:extLst xmlns:a="http://schemas.openxmlformats.org/drawingml/2006/main">
              <a:ext uri="{FF2B5EF4-FFF2-40B4-BE49-F238E27FC236}">
                <a16:creationId xmlns:a16="http://schemas.microsoft.com/office/drawing/2014/main" id="{6661FB26-DC9C-446B-BCC2-1EAD342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LLM이 수행하는 작업</a:t>
            </a:r>
          </a:p>
        </p:txBody>
      </p:sp>
      <p:sp>
        <p:nvSpPr>
          <p:cNvPr id="4" name="원문에서 핵심 사건과 근거를 발췌·구성&#10;검색된 과거 기사로 배경">
            <a:extLst xmlns:a="http://schemas.openxmlformats.org/drawingml/2006/main">
              <a:ext uri="{FF2B5EF4-FFF2-40B4-BE49-F238E27FC236}">
                <a16:creationId xmlns:a16="http://schemas.microsoft.com/office/drawing/2014/main" id="{BE00C037-33A4-41FE-B104-831A0516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원문에서 핵심 사건과 근거를 발췌·구성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검색된 과거 기사로 배경 카드 구성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영문 중심 표시 문구를 한국어로 변환</a:t>
            </a:r>
          </a:p>
        </p:txBody>
      </p:sp>
      <p:sp>
        <p:nvSpPr>
          <p:cNvPr id="5" name="코드가 검사하는 기준">
            <a:extLst xmlns:a="http://schemas.openxmlformats.org/drawingml/2006/main">
              <a:ext uri="{FF2B5EF4-FFF2-40B4-BE49-F238E27FC236}">
                <a16:creationId xmlns:a16="http://schemas.microsoft.com/office/drawing/2014/main" id="{6A5C47C4-BE24-4DED-A1E5-D00AAC77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7430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코드가 검사하는 기준</a:t>
            </a:r>
          </a:p>
        </p:txBody>
      </p:sp>
      <p:sp>
        <p:nvSpPr>
          <p:cNvPr id="6" name="JSON 구조와 표시 길이&#10;발췌 문장과 원문 근거의 일치&#10;수치 ">
            <a:extLst xmlns:a="http://schemas.openxmlformats.org/drawingml/2006/main">
              <a:ext uri="{FF2B5EF4-FFF2-40B4-BE49-F238E27FC236}">
                <a16:creationId xmlns:a16="http://schemas.microsoft.com/office/drawing/2014/main" id="{B355777C-EB22-4863-A292-480E3FD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336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JSON 구조와 표시 길이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발췌 문장과 원문 근거의 일치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수치 메타데이터·명시 날짜·출처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번역 전후 숫자 표기 유지</a:t>
            </a:r>
          </a:p>
        </p:txBody>
      </p:sp>
      <p:sp>
        <p:nvSpPr>
          <p:cNvPr id="7" name="개인화 선별은 설정·이력 기반 규칙입니다. 원문 사실성과 번역 ">
            <a:extLst xmlns:a="http://schemas.openxmlformats.org/drawingml/2006/main">
              <a:ext uri="{FF2B5EF4-FFF2-40B4-BE49-F238E27FC236}">
                <a16:creationId xmlns:a16="http://schemas.microsoft.com/office/drawing/2014/main" id="{978D70BB-3D92-4726-9AF5-408068A5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개인화 선별은 설정·이력 기반 규칙입니다. 원문 사실성과 번역 의미의 완전한 판별은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9311687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G 설계와 근거 선택">
            <a:extLst xmlns:a="http://schemas.openxmlformats.org/drawingml/2006/main">
              <a:ext uri="{FF2B5EF4-FFF2-40B4-BE49-F238E27FC236}">
                <a16:creationId xmlns:a16="http://schemas.microsoft.com/office/drawing/2014/main" id="{DA89500A-B214-4EDB-8413-1EB079A2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RAG 설계와 근거 선택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AAD6675B-4B34-4C3A-9D73-6B878EB5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multilingual-e5-small과 Firestore 벡터">
            <a:extLst xmlns:a="http://schemas.openxmlformats.org/drawingml/2006/main">
              <a:ext uri="{FF2B5EF4-FFF2-40B4-BE49-F238E27FC236}">
                <a16:creationId xmlns:a16="http://schemas.microsoft.com/office/drawing/2014/main" id="{4B92018C-98E1-43A3-A4DA-9E57D84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multilingual-e5-small과 Firestore 벡터 검색</a:t>
            </a:r>
          </a:p>
        </p:txBody>
      </p:sp>
      <p:sp>
        <p:nvSpPr>
          <p:cNvPr id="4" name="384">
            <a:extLst xmlns:a="http://schemas.openxmlformats.org/drawingml/2006/main">
              <a:ext uri="{FF2B5EF4-FFF2-40B4-BE49-F238E27FC236}">
                <a16:creationId xmlns:a16="http://schemas.microsoft.com/office/drawing/2014/main" id="{265A29D1-0D03-4717-B372-42D7FBDC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384</a:t>
            </a:r>
          </a:p>
        </p:txBody>
      </p:sp>
      <p:sp>
        <p:nvSpPr>
          <p:cNvPr id="5" name="임베딩 차원">
            <a:extLst xmlns:a="http://schemas.openxmlformats.org/drawingml/2006/main">
              <a:ext uri="{FF2B5EF4-FFF2-40B4-BE49-F238E27FC236}">
                <a16:creationId xmlns:a16="http://schemas.microsoft.com/office/drawing/2014/main" id="{876D4AC8-247D-4C8C-8F92-34964ACA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임베딩 차원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D2305DA4-7AB0-4A19-9635-53B29E00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7" name="검색 후보 최대">
            <a:extLst xmlns:a="http://schemas.openxmlformats.org/drawingml/2006/main">
              <a:ext uri="{FF2B5EF4-FFF2-40B4-BE49-F238E27FC236}">
                <a16:creationId xmlns:a16="http://schemas.microsoft.com/office/drawing/2014/main" id="{3C479C54-47BD-4CB4-B68C-62962BE0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검색 후보 최대</a:t>
            </a:r>
          </a:p>
        </p:txBody>
      </p:sp>
      <p:sp>
        <p:nvSpPr>
          <p:cNvPr id="8" name="3">
            <a:extLst xmlns:a="http://schemas.openxmlformats.org/drawingml/2006/main">
              <a:ext uri="{FF2B5EF4-FFF2-40B4-BE49-F238E27FC236}">
                <a16:creationId xmlns:a16="http://schemas.microsoft.com/office/drawing/2014/main" id="{433CC13C-810F-4F75-939F-268B513A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사용 근거 최대">
            <a:extLst xmlns:a="http://schemas.openxmlformats.org/drawingml/2006/main">
              <a:ext uri="{FF2B5EF4-FFF2-40B4-BE49-F238E27FC236}">
                <a16:creationId xmlns:a16="http://schemas.microsoft.com/office/drawing/2014/main" id="{C9B45F2E-14C1-44EF-9E9E-D65B2B2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사용 근거 최대</a:t>
            </a:r>
          </a:p>
        </p:txBody>
      </p:sp>
      <p:sp>
        <p:nvSpPr>
          <p:cNvPr id="10" name="같은 분야, 작업일 이전, 유효한 본문·출처·벡터를 가진 기사만">
            <a:extLst xmlns:a="http://schemas.openxmlformats.org/drawingml/2006/main">
              <a:ext uri="{FF2B5EF4-FFF2-40B4-BE49-F238E27FC236}">
                <a16:creationId xmlns:a16="http://schemas.microsoft.com/office/drawing/2014/main" id="{C577C416-0B1A-471D-AAC8-8C87D24E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15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같은 분야, 작업일 이전, 유효한 본문·출처·벡터를 가진 기사만 검색합니다.</a:t>
            </a:r>
          </a:p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기본 유사도 기준은 0.85이며, 모델 버전과 사용 근거 ID를 기록합니다.</a:t>
            </a:r>
          </a:p>
        </p:txBody>
      </p:sp>
      <p:sp>
        <p:nvSpPr>
          <p:cNvPr id="11" name="유사도는 사실 확률이 아닙니다. 근거 부족·검색 실패 시 배경 ">
            <a:extLst xmlns:a="http://schemas.openxmlformats.org/drawingml/2006/main">
              <a:ext uri="{FF2B5EF4-FFF2-40B4-BE49-F238E27FC236}">
                <a16:creationId xmlns:a16="http://schemas.microsoft.com/office/drawing/2014/main" id="{42686FF4-1A40-48D2-B8ED-6EDEB9F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유사도는 사실 확률이 아닙니다. 근거 부족·검색 실패 시 배경 카드를 생략합니다.</a:t>
            </a:r>
          </a:p>
        </p:txBody>
      </p:sp>
    </p:spTree>
    <p:extLst>
      <p:ext uri="{BB962C8B-B14F-4D97-AF65-F5344CB8AC3E}">
        <p14:creationId xmlns:p14="http://schemas.microsoft.com/office/powerpoint/2010/main" val="1649350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시스템 구성">
            <a:extLst xmlns:a="http://schemas.openxmlformats.org/drawingml/2006/main">
              <a:ext uri="{FF2B5EF4-FFF2-40B4-BE49-F238E27FC236}">
                <a16:creationId xmlns:a16="http://schemas.microsoft.com/office/drawing/2014/main" id="{C2CB6E81-B62B-4AF3-B35B-12064532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시스템 구성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2D47FA36-C6BC-4268-B688-863758BC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657FB-7F50-4F82-A0F9-D7C744EE40F0}"/>
              </a:ext>
            </a:extLst>
          </p:cNvPr>
          <p:cNvGraphicFramePr/>
          <p:nvPr/>
        </p:nvGraphicFramePr>
        <p:xfrm>
          <a:off xmlns:a="http://schemas.openxmlformats.org/drawingml/2006/main" x="685800" y="1743075"/>
          <a:ext xmlns:a="http://schemas.openxmlformats.org/drawingml/2006/main" cx="108204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429000"/>
                <a:gridCol w="5153025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화면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HTML/CSS/JS · Vercel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구독 설정·관리, 피드백 입력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인증·API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Firebase Auth · FastAPI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로그인, 토큰·소유권 검사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Cloud Firestore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구독·기사·벡터·근거·발송 상태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엔진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· Chat API · E5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수집·선별·검색·카드 생성·검사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실행·전달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Actions · Playwright · SMTP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배치 실행, 이미지·메일 조립·전송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4" name="웹 데이터 처리는 Backend API를 거칩니다. 개인정보 정">
            <a:extLst xmlns:a="http://schemas.openxmlformats.org/drawingml/2006/main">
              <a:ext uri="{FF2B5EF4-FFF2-40B4-BE49-F238E27FC236}">
                <a16:creationId xmlns:a16="http://schemas.microsoft.com/office/drawing/2014/main" id="{3C7374CB-A701-4262-ABB8-7CA18B02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웹 데이터 처리는 Backend API를 거칩니다. 개인정보 정리는 독립 Actions 작업으로도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14624486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기술 선택의 근거">
            <a:extLst xmlns:a="http://schemas.openxmlformats.org/drawingml/2006/main">
              <a:ext uri="{FF2B5EF4-FFF2-40B4-BE49-F238E27FC236}">
                <a16:creationId xmlns:a16="http://schemas.microsoft.com/office/drawing/2014/main" id="{022CEF5A-80AA-41C3-819B-756745AB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기술 선택의 근거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899F0D23-7E71-405B-9235-74808F1B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88A26-BE04-4DB9-9E92-1539297A79CF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4038600"/>
                <a:gridCol w="38100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이유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고려할 제약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 · Python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API와 기사·AI 처리 코드 연결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 API와 무거운 배치 실행 분리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Firebase · Firestore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인증·문서·벡터·트랜잭션 구성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IAM과 API 소유권 검사 필요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E5 로컬 임베딩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검색, CPU 실행·버전 고정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준비와 실제 검색 품질 확인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GitHub Actions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배치 실행 환경과 예약·수동 복구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 지연·누락 가능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HTML/CSS · Playwright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검사된 텍스트와 카드 디자인 통제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폰트·이미지 용량·메일 표시 확인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4" name="카드 이미지는 고정 템플릿 렌더링으로 만듭니다. 생성형 이미지 ">
            <a:extLst xmlns:a="http://schemas.openxmlformats.org/drawingml/2006/main">
              <a:ext uri="{FF2B5EF4-FFF2-40B4-BE49-F238E27FC236}">
                <a16:creationId xmlns:a16="http://schemas.microsoft.com/office/drawing/2014/main" id="{19F5BFFD-9380-4792-8B28-E0E218AD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카드 이미지는 고정 템플릿 렌더링으로 만듭니다. 생성형 이미지 모델은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78677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발송과 장애 대응 설계">
            <a:extLst xmlns:a="http://schemas.openxmlformats.org/drawingml/2006/main">
              <a:ext uri="{FF2B5EF4-FFF2-40B4-BE49-F238E27FC236}">
                <a16:creationId xmlns:a16="http://schemas.microsoft.com/office/drawing/2014/main" id="{2F8C6A01-6CD6-4C49-9A60-87551BFA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발송과 장애 대응 설계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192D2DB7-4097-4A8B-9A81-876C0B8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중복 방지">
            <a:extLst xmlns:a="http://schemas.openxmlformats.org/drawingml/2006/main">
              <a:ext uri="{FF2B5EF4-FFF2-40B4-BE49-F238E27FC236}">
                <a16:creationId xmlns:a16="http://schemas.microsoft.com/office/drawing/2014/main" id="{050CF878-46A7-49DC-84A4-9D35D28B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중복 방지</a:t>
            </a:r>
          </a:p>
        </p:txBody>
      </p:sp>
      <p:sp>
        <p:nvSpPr>
          <p:cNvPr id="4" name="고정 작업 ID와 Firestore 트랜잭션 선점, 완료 결과 ">
            <a:extLst xmlns:a="http://schemas.openxmlformats.org/drawingml/2006/main">
              <a:ext uri="{FF2B5EF4-FFF2-40B4-BE49-F238E27FC236}">
                <a16:creationId xmlns:a16="http://schemas.microsoft.com/office/drawing/2014/main" id="{D03531AF-8FEE-4CB5-8042-CC9DC900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81175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고정 작업 ID와 Firestore 트랜잭션 선점, 완료 결과 재사용</a:t>
            </a:r>
          </a:p>
        </p:txBody>
      </p:sp>
      <p:sp>
        <p:nvSpPr>
          <p:cNvPr id="5" name="불확실한 전송">
            <a:extLst xmlns:a="http://schemas.openxmlformats.org/drawingml/2006/main">
              <a:ext uri="{FF2B5EF4-FFF2-40B4-BE49-F238E27FC236}">
                <a16:creationId xmlns:a16="http://schemas.microsoft.com/office/drawing/2014/main" id="{20184F48-D39C-4118-BADC-1F681395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불확실한 전송</a:t>
            </a:r>
          </a:p>
        </p:txBody>
      </p:sp>
      <p:sp>
        <p:nvSpPr>
          <p:cNvPr id="6" name="SMTP 결과가 불명확하면 unknown으로 기록하고 자동 재발">
            <a:extLst xmlns:a="http://schemas.openxmlformats.org/drawingml/2006/main">
              <a:ext uri="{FF2B5EF4-FFF2-40B4-BE49-F238E27FC236}">
                <a16:creationId xmlns:a16="http://schemas.microsoft.com/office/drawing/2014/main" id="{79D21C3C-80AD-45B9-B3CB-A13B59C9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9850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SMTP 결과가 불명확하면 unknown으로 기록하고 자동 재발송 중단</a:t>
            </a:r>
          </a:p>
        </p:txBody>
      </p:sp>
      <p:sp>
        <p:nvSpPr>
          <p:cNvPr id="7" name="대체 동작">
            <a:extLst xmlns:a="http://schemas.openxmlformats.org/drawingml/2006/main">
              <a:ext uri="{FF2B5EF4-FFF2-40B4-BE49-F238E27FC236}">
                <a16:creationId xmlns:a16="http://schemas.microsoft.com/office/drawing/2014/main" id="{954A8CF5-9928-4CCE-8EA2-675138FC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대체 동작</a:t>
            </a:r>
          </a:p>
        </p:txBody>
      </p:sp>
      <p:sp>
        <p:nvSpPr>
          <p:cNvPr id="8" name="RAG 근거 부족 시 배경 생략, 이미지 실패 시 텍스트 제공">
            <a:extLst xmlns:a="http://schemas.openxmlformats.org/drawingml/2006/main">
              <a:ext uri="{FF2B5EF4-FFF2-40B4-BE49-F238E27FC236}">
                <a16:creationId xmlns:a16="http://schemas.microsoft.com/office/drawing/2014/main" id="{0AF4B005-E17A-4D5F-B415-9CFB13D0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RAG 근거 부족 시 배경 생략, 이미지 실패 시 텍스트 제공</a:t>
            </a:r>
          </a:p>
        </p:txBody>
      </p:sp>
      <p:sp>
        <p:nvSpPr>
          <p:cNvPr id="9" name="호출 제한">
            <a:extLst xmlns:a="http://schemas.openxmlformats.org/drawingml/2006/main">
              <a:ext uri="{FF2B5EF4-FFF2-40B4-BE49-F238E27FC236}">
                <a16:creationId xmlns:a16="http://schemas.microsoft.com/office/drawing/2014/main" id="{6B7D00F2-06C4-4352-AD97-CDEDD596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호출 제한</a:t>
            </a:r>
          </a:p>
        </p:txBody>
      </p:sp>
      <p:sp>
        <p:nvSpPr>
          <p:cNvPr id="10" name="동일 생성 작업 최대 2회, 명확한 일시 SMTP 실패만 최대 ">
            <a:extLst xmlns:a="http://schemas.openxmlformats.org/drawingml/2006/main">
              <a:ext uri="{FF2B5EF4-FFF2-40B4-BE49-F238E27FC236}">
                <a16:creationId xmlns:a16="http://schemas.microsoft.com/office/drawing/2014/main" id="{7EE987B5-D440-485B-9416-826C3936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7200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동일 생성 작업 최대 2회, 명확한 일시 SMTP 실패만 최대 3회</a:t>
            </a:r>
          </a:p>
        </p:txBody>
      </p:sp>
      <p:sp>
        <p:nvSpPr>
          <p:cNvPr id="11" name="개인정보">
            <a:extLst xmlns:a="http://schemas.openxmlformats.org/drawingml/2006/main">
              <a:ext uri="{FF2B5EF4-FFF2-40B4-BE49-F238E27FC236}">
                <a16:creationId xmlns:a16="http://schemas.microsoft.com/office/drawing/2014/main" id="{6DC2C41C-795D-4149-B98A-B5D9C02F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개인정보</a:t>
            </a:r>
          </a:p>
        </p:txBody>
      </p:sp>
      <p:sp>
        <p:nvSpPr>
          <p:cNvPr id="12" name="발송 직전 구독·삭제 상태 확인, 비밀값은 서버 설정·Secre">
            <a:extLst xmlns:a="http://schemas.openxmlformats.org/drawingml/2006/main">
              <a:ext uri="{FF2B5EF4-FFF2-40B4-BE49-F238E27FC236}">
                <a16:creationId xmlns:a16="http://schemas.microsoft.com/office/drawing/2014/main" id="{B1F74AFC-E23A-4636-B48B-3823C3DC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발송 직전 구독·삭제 상태 확인, 비밀값은 서버 설정·Secrets 관리</a:t>
            </a:r>
          </a:p>
        </p:txBody>
      </p:sp>
      <p:sp>
        <p:nvSpPr>
          <p:cNvPr id="13" name="정기 발송과 미리보기 요청 모두 실제 수신 시각을 보장하지 않습">
            <a:extLst xmlns:a="http://schemas.openxmlformats.org/drawingml/2006/main">
              <a:ext uri="{FF2B5EF4-FFF2-40B4-BE49-F238E27FC236}">
                <a16:creationId xmlns:a16="http://schemas.microsoft.com/office/drawing/2014/main" id="{F8417E3D-0ECF-44F8-8176-2EB5DC7D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정기 발송과 미리보기 요청 모두 실제 수신 시각을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090313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사용자 피드백">
            <a:extLst xmlns:a="http://schemas.openxmlformats.org/drawingml/2006/main">
              <a:ext uri="{FF2B5EF4-FFF2-40B4-BE49-F238E27FC236}">
                <a16:creationId xmlns:a16="http://schemas.microsoft.com/office/drawing/2014/main" id="{9603C5CD-BEBD-4657-8A8B-6D5A8042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사용자 피드백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CC629445-6232-418E-95CB-680B0A8F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41939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개선 사항">
            <a:extLst xmlns:a="http://schemas.openxmlformats.org/drawingml/2006/main">
              <a:ext uri="{FF2B5EF4-FFF2-40B4-BE49-F238E27FC236}">
                <a16:creationId xmlns:a16="http://schemas.microsoft.com/office/drawing/2014/main" id="{F1119E75-21C5-4378-805C-2A3920F6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개선 사항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09FDF089-D5FE-46B8-826D-6575D209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54662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서비스와 소스 코드">
            <a:extLst xmlns:a="http://schemas.openxmlformats.org/drawingml/2006/main">
              <a:ext uri="{FF2B5EF4-FFF2-40B4-BE49-F238E27FC236}">
                <a16:creationId xmlns:a16="http://schemas.microsoft.com/office/drawing/2014/main" id="{432E1CB6-A7DB-46C2-85A8-AD87F419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서비스와 소스 코드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07F1D2C3-5D4E-485E-8D45-2E8BEEB8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원하는 뉴스를 편리하게 받아보고 싶은 사람을 위한&#10;AI 기반 이">
            <a:extLst xmlns:a="http://schemas.openxmlformats.org/drawingml/2006/main">
              <a:ext uri="{FF2B5EF4-FFF2-40B4-BE49-F238E27FC236}">
                <a16:creationId xmlns:a16="http://schemas.microsoft.com/office/drawing/2014/main" id="{F502193C-EB94-42B9-A076-7B1F40D4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원하는 뉴스를 편리하게 받아보고 싶은 사람을 위한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기반 이메일 구독 서비스</a:t>
            </a:r>
          </a:p>
        </p:txBody>
      </p:sp>
      <p:sp>
        <p:nvSpPr>
          <p:cNvPr id="4" name="서비스">
            <a:extLst xmlns:a="http://schemas.openxmlformats.org/drawingml/2006/main">
              <a:ext uri="{FF2B5EF4-FFF2-40B4-BE49-F238E27FC236}">
                <a16:creationId xmlns:a16="http://schemas.microsoft.com/office/drawing/2014/main" id="{62004A2D-DA41-4B86-9759-70542887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5" name="ai-news-card-frontend.vercel.app">
            <a:extLst xmlns:a="http://schemas.openxmlformats.org/drawingml/2006/main">
              <a:ext uri="{FF2B5EF4-FFF2-40B4-BE49-F238E27FC236}">
                <a16:creationId xmlns:a16="http://schemas.microsoft.com/office/drawing/2014/main" id="{BFBBD59C-F2C7-4514-A25C-9A6BFE9C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95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df15aea2615f4d76"/>
              </a:rPr>
              <a:t>ai-news-card-frontend.vercel.app</a:t>
            </a:r>
          </a:p>
        </p:txBody>
      </p:sp>
      <p:sp>
        <p:nvSpPr>
          <p:cNvPr id="6" name="GitHub">
            <a:extLst xmlns:a="http://schemas.openxmlformats.org/drawingml/2006/main">
              <a:ext uri="{FF2B5EF4-FFF2-40B4-BE49-F238E27FC236}">
                <a16:creationId xmlns:a16="http://schemas.microsoft.com/office/drawing/2014/main" id="{6443C097-59A5-4062-AD10-E4FF932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rPr>
              <a:t>GitHub</a:t>
            </a:r>
          </a:p>
        </p:txBody>
      </p:sp>
      <p:sp>
        <p:nvSpPr>
          <p:cNvPr id="7" name="github.com/contest-p/ai-news-card">
            <a:extLst xmlns:a="http://schemas.openxmlformats.org/drawingml/2006/main">
              <a:ext uri="{FF2B5EF4-FFF2-40B4-BE49-F238E27FC236}">
                <a16:creationId xmlns:a16="http://schemas.microsoft.com/office/drawing/2014/main" id="{872174FC-769F-4925-AA24-53F82349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5e1120266fa54c37"/>
              </a:rPr>
              <a:t>github.com/contest-p/ai-news-card</a:t>
            </a:r>
          </a:p>
        </p:txBody>
      </p:sp>
    </p:spTree>
    <p:extLst>
      <p:ext uri="{BB962C8B-B14F-4D97-AF65-F5344CB8AC3E}">
        <p14:creationId xmlns:p14="http://schemas.microsoft.com/office/powerpoint/2010/main" val="512167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2026-10-10T03:01:41.5360000Z</dcterms:created>
  <dcterms:modified xsi:type="dcterms:W3CDTF">2026-10-10T03:01:41.5360000Z</dcterms:modified>
</coreProperties>
</file>