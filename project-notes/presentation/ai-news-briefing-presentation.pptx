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fee78510247bd" /><Relationship Type="http://schemas.openxmlformats.org/officeDocument/2006/relationships/extended-properties" Target="/docProps/app.xml" Id="R870c63f5b72d4b8b" /><Relationship Type="http://schemas.openxmlformats.org/officeDocument/2006/relationships/officeDocument" Target="/ppt/presentation.xml" Id="Ra6466c6e5d784e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8be0206654c99"/>
  </p:sldMasterIdLst>
  <p:notesMasterIdLst>
    <p:notesMasterId xmlns:r="http://schemas.openxmlformats.org/officeDocument/2006/relationships" r:id="R2bb2655a087d4bf2"/>
  </p:notesMasterIdLst>
  <p:sldIdLst>
    <p:sldId xmlns:r="http://schemas.openxmlformats.org/officeDocument/2006/relationships" id="256" r:id="R220e1113db66491b"/>
    <p:sldId xmlns:r="http://schemas.openxmlformats.org/officeDocument/2006/relationships" id="257" r:id="R6282cf01228845b4"/>
    <p:sldId xmlns:r="http://schemas.openxmlformats.org/officeDocument/2006/relationships" id="258" r:id="R9ac106d99a00481e"/>
    <p:sldId xmlns:r="http://schemas.openxmlformats.org/officeDocument/2006/relationships" id="259" r:id="Re8ea951eb84a47d0"/>
    <p:sldId xmlns:r="http://schemas.openxmlformats.org/officeDocument/2006/relationships" id="260" r:id="Rde57ad0c2ca243d5"/>
    <p:sldId xmlns:r="http://schemas.openxmlformats.org/officeDocument/2006/relationships" id="261" r:id="Rf9a67b894b7d44bb"/>
    <p:sldId xmlns:r="http://schemas.openxmlformats.org/officeDocument/2006/relationships" id="262" r:id="Rcd0d0cd6f08d43e2"/>
    <p:sldId xmlns:r="http://schemas.openxmlformats.org/officeDocument/2006/relationships" id="263" r:id="R04b6deadc67b4156"/>
    <p:sldId xmlns:r="http://schemas.openxmlformats.org/officeDocument/2006/relationships" id="264" r:id="R4d0febdec52141c5"/>
    <p:sldId xmlns:r="http://schemas.openxmlformats.org/officeDocument/2006/relationships" id="265" r:id="R0462587225114771"/>
    <p:sldId xmlns:r="http://schemas.openxmlformats.org/officeDocument/2006/relationships" id="266" r:id="R34afad907344453b"/>
    <p:sldId xmlns:r="http://schemas.openxmlformats.org/officeDocument/2006/relationships" id="267" r:id="R949d2977371c42da"/>
    <p:sldId xmlns:r="http://schemas.openxmlformats.org/officeDocument/2006/relationships" id="268" r:id="R8ecb4ef442c84a66"/>
    <p:sldId xmlns:r="http://schemas.openxmlformats.org/officeDocument/2006/relationships" id="269" r:id="R33b684ffd2a3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57e49b0a984aae" /><Relationship Type="http://schemas.openxmlformats.org/officeDocument/2006/relationships/slideMaster" Target="/ppt/slideMasters/slideMaster1.xml" Id="Rd748be0206654c99" /><Relationship Type="http://schemas.openxmlformats.org/officeDocument/2006/relationships/notesMaster" Target="/ppt/notesMasters/notesMaster1.xml" Id="R2bb2655a087d4bf2" /><Relationship Type="http://schemas.openxmlformats.org/officeDocument/2006/relationships/presProps" Target="/ppt/presProps.xml" Id="R413a276813f64a2d" /><Relationship Type="http://schemas.openxmlformats.org/officeDocument/2006/relationships/tableStyles" Target="/ppt/tableStyles.xml" Id="R57d7409c140e47da" /><Relationship Type="http://schemas.openxmlformats.org/officeDocument/2006/relationships/slide" Target="/ppt/slides/slide1.xml" Id="R220e1113db66491b" /><Relationship Type="http://schemas.openxmlformats.org/officeDocument/2006/relationships/slide" Target="/ppt/slides/slide2.xml" Id="R6282cf01228845b4" /><Relationship Type="http://schemas.openxmlformats.org/officeDocument/2006/relationships/slide" Target="/ppt/slides/slide3.xml" Id="R9ac106d99a00481e" /><Relationship Type="http://schemas.openxmlformats.org/officeDocument/2006/relationships/slide" Target="/ppt/slides/slide4.xml" Id="Re8ea951eb84a47d0" /><Relationship Type="http://schemas.openxmlformats.org/officeDocument/2006/relationships/slide" Target="/ppt/slides/slide5.xml" Id="Rde57ad0c2ca243d5" /><Relationship Type="http://schemas.openxmlformats.org/officeDocument/2006/relationships/slide" Target="/ppt/slides/slide6.xml" Id="Rf9a67b894b7d44bb" /><Relationship Type="http://schemas.openxmlformats.org/officeDocument/2006/relationships/slide" Target="/ppt/slides/slide7.xml" Id="Rcd0d0cd6f08d43e2" /><Relationship Type="http://schemas.openxmlformats.org/officeDocument/2006/relationships/slide" Target="/ppt/slides/slide8.xml" Id="R04b6deadc67b4156" /><Relationship Type="http://schemas.openxmlformats.org/officeDocument/2006/relationships/slide" Target="/ppt/slides/slide9.xml" Id="R4d0febdec52141c5" /><Relationship Type="http://schemas.openxmlformats.org/officeDocument/2006/relationships/slide" Target="/ppt/slides/slide10.xml" Id="R0462587225114771" /><Relationship Type="http://schemas.openxmlformats.org/officeDocument/2006/relationships/slide" Target="/ppt/slides/slide11.xml" Id="R34afad907344453b" /><Relationship Type="http://schemas.openxmlformats.org/officeDocument/2006/relationships/slide" Target="/ppt/slides/slide12.xml" Id="R949d2977371c42da" /><Relationship Type="http://schemas.openxmlformats.org/officeDocument/2006/relationships/slide" Target="/ppt/slides/slide13.xml" Id="R8ecb4ef442c84a66" /><Relationship Type="http://schemas.openxmlformats.org/officeDocument/2006/relationships/slide" Target="/ppt/slides/slide14.xml" Id="R33b684ffd2a3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4e55aba1224f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e49362eefe4b55" /><Relationship Type="http://schemas.openxmlformats.org/officeDocument/2006/relationships/notesMaster" Target="/ppt/notesMasters/notesMaster1.xml" Id="Ra6ed2e33be32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ff008213de4a4f" /><Relationship Type="http://schemas.openxmlformats.org/officeDocument/2006/relationships/notesMaster" Target="/ppt/notesMasters/notesMaster1.xml" Id="Rd58998975f3740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081cb92daa471e" /><Relationship Type="http://schemas.openxmlformats.org/officeDocument/2006/relationships/notesMaster" Target="/ppt/notesMasters/notesMaster1.xml" Id="Reacc58c37ae644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8def16ef2046d5" /><Relationship Type="http://schemas.openxmlformats.org/officeDocument/2006/relationships/notesMaster" Target="/ppt/notesMasters/notesMaster1.xml" Id="R973ee6babc6640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d07759ab8b4470" /><Relationship Type="http://schemas.openxmlformats.org/officeDocument/2006/relationships/notesMaster" Target="/ppt/notesMasters/notesMaster1.xml" Id="R278978f86f4b4c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294ddfd64b4652" /><Relationship Type="http://schemas.openxmlformats.org/officeDocument/2006/relationships/notesMaster" Target="/ppt/notesMasters/notesMaster1.xml" Id="R706708028498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e81f8887d84e9e" /><Relationship Type="http://schemas.openxmlformats.org/officeDocument/2006/relationships/notesMaster" Target="/ppt/notesMasters/notesMaster1.xml" Id="R7f1f2c369c32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db402392394998" /><Relationship Type="http://schemas.openxmlformats.org/officeDocument/2006/relationships/notesMaster" Target="/ppt/notesMasters/notesMaster1.xml" Id="R47b736a9af794e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a73fd9a7194fbe" /><Relationship Type="http://schemas.openxmlformats.org/officeDocument/2006/relationships/notesMaster" Target="/ppt/notesMasters/notesMaster1.xml" Id="R7f974a0aef5e46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e5fb1683354047" /><Relationship Type="http://schemas.openxmlformats.org/officeDocument/2006/relationships/notesMaster" Target="/ppt/notesMasters/notesMaster1.xml" Id="Rdf6f12d24cde4f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871f3608464798" /><Relationship Type="http://schemas.openxmlformats.org/officeDocument/2006/relationships/notesMaster" Target="/ppt/notesMasters/notesMaster1.xml" Id="Ra780f4e57bc749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15e417d75048fc" /><Relationship Type="http://schemas.openxmlformats.org/officeDocument/2006/relationships/notesMaster" Target="/ppt/notesMasters/notesMaster1.xml" Id="Rc053db19ba0e4a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e0db6dc1244eeb" /><Relationship Type="http://schemas.openxmlformats.org/officeDocument/2006/relationships/notesMaster" Target="/ppt/notesMasters/notesMaster1.xml" Id="R55b365a8127144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57977133794614" /><Relationship Type="http://schemas.openxmlformats.org/officeDocument/2006/relationships/notesMaster" Target="/ppt/notesMasters/notesMaster1.xml" Id="R14adf652bc0d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목적과 대상: 사용자 요청 및 docs/02_프로젝트_기획서_개인화_뉴스_브리핑.md 1절. 역할: 동일 문서 12절.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 제공 기획 의도와 README.md의 프로젝트 목적에 근거한 가설이다. 사용자 조사나 절감 시간 측정 결과를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요청, 기획서 1·3·4절, REQUIREMENTS.md FR-01~06. 실제 수신 주소는 직접 이메일 입력이 아니라 Google 로그인 계정의 이메일이다. 시간은 KST이며 정기 발송은 가입 다음 날부터다.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방문·화면 캡처: https://ai-news-card-frontend.vercel.app/ 및 /login, 2026-10-10 KST. assets/06-landing-action.jpg, assets/02-login.jpg. 랜딩에서 구독 시작 버튼 클릭으로 로그인 페이지 이동을 확인했다. 로그인 완료·구독 저장·메일 수신은 이번 관찰에서 확인하지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방문·화면 캡처: https://ai-news-card-frontend.vercel.app/service, 2026-10-10 KST. assets/05-card-detail.jpg. 샘플 선택에서 핵심 1장/최대 길이 2장 전환을 확인했다. 사이트는 연결 확인용 가상 데이터라고 명시하므로 실제 뉴스 생성·메일 수신 증거로 사용하지 않는다. 구현: frontend/card-template.js, engine/card_images.py.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engine/runtime.py run_connected, engine/selection.py select_article, engine/card_builder.py GenerationCardBuilder, engine/pipeline.py, engine/mail_assembly.py. 기획서의 자유 요약 표현보다 현재 발췌 기반 코드 동작을 우선했다.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engine/card_prompt.py SYSTEM 및 PROMPT_VERSION, engine/cards.py 검증 함수, engine/generation.py, engine/localization.py. LLM은 발췌 기반 카드 JSON을 생성하며 한국어 변환은 별도 단계다. 개인화 선별은 규칙이며 피드백 학습은 구현되어 있다고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engine/embeddings.py E5Encoder 및 MODEL_REVISION, engine/firestore_rag.py FirestoreRagStore, engine/card_builder.py. 기획서 6·7절: 한국어 검색과 로컬 CPU 접근 선택 이유. 0.85는 코드 기본값이며 검증된 정확도 수치가 아니다. 검색 점수는 1 - cosine distance. 실제 RAG 사용자 효용 결과는 아직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REQUIREMENTS.md 6절, backend/pyproject.toml, frontend/vercel.json, engine/runtime.py, .github/workflows/engine-mail.yml 및 privacy-cleanup.yml. 프론트와 백엔드는 별도 Vercel 프로젝트, SMTP는 Actions 엔진 경로다.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기획서 7-1 기술 선택·대안·근거 및 5절, 현재 코드 frontend 화면/카드 템플릿, backend/pyproject.toml, engine/embeddings.py, engine/tools/render_cards.cjs와 card_render.py, .github/workflows/engine-mail.yml. 기술 선택 목적이지 비용 절감·성능 향상 측정 결과가 아니다. Vercel은 최신 구현에 맞춰 반영했다.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engine/delivery.py, engine/firestore_runtime_store.py, engine/pipeline.py, engine/generation.py, backend/preview_mail.py, .github/workflows/engine-mail.yml, .github/workflows/privacy-cleanup.yml. 구현된 정책 설명이며 실서비스 가용률·수신율 측정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서비스: https://ai-news-card-frontend.vercel.app/ . 저장소: https://github.com/contest-p/ai-news-card . 2026-10-10 직접 확인한 공개 웹 화면과 로컬 저장소 코드·기획서를 바탕으로 구성했으며 사용자 테스트 결과는 비워 두었다.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ebd1610d7466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ffd966a214f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a66ac4bba4c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79fd21de443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f7c9ca4184f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7d491fc4e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EEC3CB-D448-4029-B45A-8320550E9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CB452E6-B29B-4C62-ABF6-6E0D3D59F0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A462AC-0B75-4771-904E-EB0EF910F0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03AD36-4290-4D3A-9B8A-D282CCC6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A19EDE3-C668-418C-8712-6B7A558E05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057104-8F49-44FE-BDFC-3958E8940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B4CF81-109C-406C-BB61-0FDC09E7BE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D5291D-0D30-4945-B0E3-539CDA4F24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162F68-3ADA-4D28-B3B4-9A57E4DBE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832329-C4A8-4F4F-B04F-537206192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26d4bc64a4613" /><Relationship Type="http://schemas.openxmlformats.org/officeDocument/2006/relationships/slideLayout" Target="/ppt/slideLayouts/slideLayout1.xml" Id="R30399e473bd349df" /><Relationship Type="http://schemas.openxmlformats.org/officeDocument/2006/relationships/slideLayout" Target="/ppt/slideLayouts/slideLayout2.xml" Id="Rd5d471f3fefc4eb1" /><Relationship Type="http://schemas.openxmlformats.org/officeDocument/2006/relationships/slideLayout" Target="/ppt/slideLayouts/slideLayout3.xml" Id="Rbca7dbb236c245c6" /><Relationship Type="http://schemas.openxmlformats.org/officeDocument/2006/relationships/slideLayout" Target="/ppt/slideLayouts/slideLayout4.xml" Id="R1736b4c569154f91" /><Relationship Type="http://schemas.openxmlformats.org/officeDocument/2006/relationships/slideLayout" Target="/ppt/slideLayouts/slideLayout5.xml" Id="Rb15765d70cbb45ba" /><Relationship Type="http://schemas.openxmlformats.org/officeDocument/2006/relationships/slideLayout" Target="/ppt/slideLayouts/slideLayout6.xml" Id="Rc00ff5556865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399e473bd349df"/>
    <p:sldLayoutId xmlns:r="http://schemas.openxmlformats.org/officeDocument/2006/relationships" id="2147483650" r:id="Rd5d471f3fefc4eb1"/>
    <p:sldLayoutId xmlns:r="http://schemas.openxmlformats.org/officeDocument/2006/relationships" id="2147483651" r:id="Rbca7dbb236c245c6"/>
    <p:sldLayoutId xmlns:r="http://schemas.openxmlformats.org/officeDocument/2006/relationships" id="2147483652" r:id="R1736b4c569154f91"/>
    <p:sldLayoutId xmlns:r="http://schemas.openxmlformats.org/officeDocument/2006/relationships" id="2147483653" r:id="Rb15765d70cbb45ba"/>
    <p:sldLayoutId xmlns:r="http://schemas.openxmlformats.org/officeDocument/2006/relationships" id="2147483654" r:id="Rc00ff5556865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16349ae01400e" /><Relationship Type="http://schemas.openxmlformats.org/officeDocument/2006/relationships/notesSlide" Target="/ppt/notesSlides/notesSlide1.xml" Id="Reb9d586a5f6b4c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6752166d3f41ed" /><Relationship Type="http://schemas.openxmlformats.org/officeDocument/2006/relationships/notesSlide" Target="/ppt/notesSlides/notesSlide2.xml" Id="R0349ebc8ada141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77e9fe2d14e34" /><Relationship Type="http://schemas.openxmlformats.org/officeDocument/2006/relationships/notesSlide" Target="/ppt/notesSlides/notesSlide3.xml" Id="Rcbf71e699bd24e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c5b8256004ee2" /><Relationship Type="http://schemas.openxmlformats.org/officeDocument/2006/relationships/image" Target="/ppt/media/image.jpeg" Id="Rfe5a3a2fddc143ce" /><Relationship Type="http://schemas.openxmlformats.org/officeDocument/2006/relationships/image" Target="/ppt/media/image2.jpeg" Id="R9002782779154e7d" /><Relationship Type="http://schemas.openxmlformats.org/officeDocument/2006/relationships/notesSlide" Target="/ppt/notesSlides/notesSlide4.xml" Id="R1bce7406511049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80405b75f45d4" /><Relationship Type="http://schemas.openxmlformats.org/officeDocument/2006/relationships/image" Target="/ppt/media/image3.jpeg" Id="Re3d85b1b46304981" /><Relationship Type="http://schemas.openxmlformats.org/officeDocument/2006/relationships/notesSlide" Target="/ppt/notesSlides/notesSlide5.xml" Id="Rf627388afcea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7ddaafadd431f" /><Relationship Type="http://schemas.openxmlformats.org/officeDocument/2006/relationships/notesSlide" Target="/ppt/notesSlides/notesSlide6.xml" Id="R88e1d966cb09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634a3d1b904d0e" /><Relationship Type="http://schemas.openxmlformats.org/officeDocument/2006/relationships/notesSlide" Target="/ppt/notesSlides/notesSlide7.xml" Id="R4ac291ab58aa41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149a4f6a2470f" /><Relationship Type="http://schemas.openxmlformats.org/officeDocument/2006/relationships/notesSlide" Target="/ppt/notesSlides/notesSlide8.xml" Id="Rf7ce258f589141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2a227fad344f7" /><Relationship Type="http://schemas.openxmlformats.org/officeDocument/2006/relationships/notesSlide" Target="/ppt/notesSlides/notesSlide9.xml" Id="Rc3f669af1f6647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bde935400478d" /><Relationship Type="http://schemas.openxmlformats.org/officeDocument/2006/relationships/notesSlide" Target="/ppt/notesSlides/notesSlide10.xml" Id="Ree680949cc814f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6bfa4f7c74ef1" /><Relationship Type="http://schemas.openxmlformats.org/officeDocument/2006/relationships/notesSlide" Target="/ppt/notesSlides/notesSlide11.xml" Id="Rb0ddd50af42e4c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70541540d14007" /><Relationship Type="http://schemas.openxmlformats.org/officeDocument/2006/relationships/notesSlide" Target="/ppt/notesSlides/notesSlide12.xml" Id="R515a01b893724c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7c6a4771c4b03" /><Relationship Type="http://schemas.openxmlformats.org/officeDocument/2006/relationships/notesSlide" Target="/ppt/notesSlides/notesSlide13.xml" Id="R12608370a9d545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fe30a27d84164" /><Relationship Type="http://schemas.openxmlformats.org/officeDocument/2006/relationships/hyperlink" Target="https://ai-news-card-frontend.vercel.app/" TargetMode="External" Id="R296c73b5ee5846fb" /><Relationship Type="http://schemas.openxmlformats.org/officeDocument/2006/relationships/hyperlink" Target="https://github.com/contest-p/ai-news-card" TargetMode="External" Id="R033d2c4002e04895" /><Relationship Type="http://schemas.openxmlformats.org/officeDocument/2006/relationships/notesSlide" Target="/ppt/notesSlides/notesSlide14.xml" Id="Rce9fb685de2d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1B25DCA6-F121-404C-A150-44FA85AB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개인화 뉴스 브리핑">
            <a:extLst xmlns:a="http://schemas.openxmlformats.org/drawingml/2006/main">
              <a:ext uri="{FF2B5EF4-FFF2-40B4-BE49-F238E27FC236}">
                <a16:creationId xmlns:a16="http://schemas.microsoft.com/office/drawing/2014/main" id="{46535EE9-2CDF-4D48-98A6-251CCE8C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개인화 뉴스 브리핑</a:t>
            </a:r>
          </a:p>
        </p:txBody>
      </p:sp>
      <p:sp>
        <p:nvSpPr>
          <p:cNvPr id="3" name="원하는 뉴스를, 선택한 시간에 이메일로">
            <a:extLst xmlns:a="http://schemas.openxmlformats.org/drawingml/2006/main">
              <a:ext uri="{FF2B5EF4-FFF2-40B4-BE49-F238E27FC236}">
                <a16:creationId xmlns:a16="http://schemas.microsoft.com/office/drawing/2014/main" id="{7671ADA5-DF17-45D2-AEAD-F3E7495E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0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원하는 뉴스를, 선택한 시간에 이메일로</a:t>
            </a:r>
          </a:p>
        </p:txBody>
      </p:sp>
      <p:sp>
        <p:nvSpPr>
          <p:cNvPr id="4" name="AI 기반 이메일 구독 서비스">
            <a:extLst xmlns:a="http://schemas.openxmlformats.org/drawingml/2006/main">
              <a:ext uri="{FF2B5EF4-FFF2-40B4-BE49-F238E27FC236}">
                <a16:creationId xmlns:a16="http://schemas.microsoft.com/office/drawing/2014/main" id="{44CC859B-D850-4FE1-B17A-B9F5304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rPr>
              <a:t>AI 기반 이메일 구독 서비스</a:t>
            </a:r>
          </a:p>
        </p:txBody>
      </p:sp>
      <p:sp>
        <p:nvSpPr>
          <p:cNvPr id="5" name="박경연 · 고승희 · 김현서 · 윤지민">
            <a:extLst xmlns:a="http://schemas.openxmlformats.org/drawingml/2006/main">
              <a:ext uri="{FF2B5EF4-FFF2-40B4-BE49-F238E27FC236}">
                <a16:creationId xmlns:a16="http://schemas.microsoft.com/office/drawing/2014/main" id="{B52483CE-3F61-4E61-AEB0-84E12E9F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0D8DF"/>
                </a:solidFill>
                <a:latin typeface="Malgun Gothic"/>
                <a:ea typeface="Malgun Gothic"/>
                <a:cs typeface="Malgun Gothic"/>
              </a:rPr>
              <a:t>박경연 · 고승희 · 김현서 · 윤지민</a:t>
            </a:r>
          </a:p>
        </p:txBody>
      </p:sp>
    </p:spTree>
    <p:extLst>
      <p:ext uri="{BB962C8B-B14F-4D97-AF65-F5344CB8AC3E}">
        <p14:creationId xmlns:p14="http://schemas.microsoft.com/office/powerpoint/2010/main" val="985034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문제 정의">
            <a:extLst xmlns:a="http://schemas.openxmlformats.org/drawingml/2006/main">
              <a:ext uri="{FF2B5EF4-FFF2-40B4-BE49-F238E27FC236}">
                <a16:creationId xmlns:a16="http://schemas.microsoft.com/office/drawing/2014/main" id="{44A265C0-4BD6-450A-A66D-FEBE6233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63CD7F69-EBFF-4D2F-8E1B-CA3539E0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뉴스 자동화의 구축과 운영이&#10;사용자의 부담으로 남습니다">
            <a:extLst xmlns:a="http://schemas.openxmlformats.org/drawingml/2006/main">
              <a:ext uri="{FF2B5EF4-FFF2-40B4-BE49-F238E27FC236}">
                <a16:creationId xmlns:a16="http://schemas.microsoft.com/office/drawing/2014/main" id="{F23326A9-33F1-49E2-B39E-1D23CC0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자동화의 구축과 운영이</a:t>
            </a:r>
          </a:p>
          <a:p xmlns:a="http://schemas.openxmlformats.org/drawingml/2006/main">
            <a:pPr>
              <a:def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사용자의 부담으로 남습니다</a:t>
            </a:r>
          </a:p>
        </p:txBody>
      </p:sp>
      <p:sp>
        <p:nvSpPr>
          <p:cNvPr id="4" name="코드와 노코드 도구로 원하는 뉴스를 받을 수 있지만,&#10;수집 경로">
            <a:extLst xmlns:a="http://schemas.openxmlformats.org/drawingml/2006/main">
              <a:ext uri="{FF2B5EF4-FFF2-40B4-BE49-F238E27FC236}">
                <a16:creationId xmlns:a16="http://schemas.microsoft.com/office/drawing/2014/main" id="{938270BE-50F4-47AC-8521-6CC381E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코드와 노코드 도구로 원하는 뉴스를 받을 수 있지만,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수집 경로와 요약 방식, 예약 발송을 연결하고 관리해야 합니다.</a:t>
            </a:r>
          </a:p>
        </p:txBody>
      </p:sp>
      <p:sp>
        <p:nvSpPr>
          <p:cNvPr id="5" name="구축 과정">
            <a:extLst xmlns:a="http://schemas.openxmlformats.org/drawingml/2006/main">
              <a:ext uri="{FF2B5EF4-FFF2-40B4-BE49-F238E27FC236}">
                <a16:creationId xmlns:a16="http://schemas.microsoft.com/office/drawing/2014/main" id="{879B2F0E-B38A-4DED-A45F-328ADA80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구축 과정</a:t>
            </a:r>
          </a:p>
        </p:txBody>
      </p:sp>
      <p:sp>
        <p:nvSpPr>
          <p:cNvPr id="6" name="도구 선택    수집·요약 연결    발송 설정    오류 대응">
            <a:extLst xmlns:a="http://schemas.openxmlformats.org/drawingml/2006/main">
              <a:ext uri="{FF2B5EF4-FFF2-40B4-BE49-F238E27FC236}">
                <a16:creationId xmlns:a16="http://schemas.microsoft.com/office/drawing/2014/main" id="{1E50D6B8-C144-4A67-9ACD-C574C44D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도구 선택    수집·요약 연결    발송 설정    오류 대응·관리</a:t>
            </a:r>
          </a:p>
        </p:txBody>
      </p:sp>
    </p:spTree>
    <p:extLst>
      <p:ext uri="{BB962C8B-B14F-4D97-AF65-F5344CB8AC3E}">
        <p14:creationId xmlns:p14="http://schemas.microsoft.com/office/powerpoint/2010/main" val="1532392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해결 접근과 이용 흐름">
            <a:extLst xmlns:a="http://schemas.openxmlformats.org/drawingml/2006/main">
              <a:ext uri="{FF2B5EF4-FFF2-40B4-BE49-F238E27FC236}">
                <a16:creationId xmlns:a16="http://schemas.microsoft.com/office/drawing/2014/main" id="{1A85B27E-1743-4A76-851A-3397E6B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해결 접근과 이용 흐름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A881E5E1-D4DB-4737-8F5F-C780476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구축과 운영은 서비스가 맡고,&#10;사용자는 원하는 뉴스와 시간을 선">
            <a:extLst xmlns:a="http://schemas.openxmlformats.org/drawingml/2006/main">
              <a:ext uri="{FF2B5EF4-FFF2-40B4-BE49-F238E27FC236}">
                <a16:creationId xmlns:a16="http://schemas.microsoft.com/office/drawing/2014/main" id="{0E26F4EE-C826-45D7-8C0B-E546DCDF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구축과 운영은 서비스가 맡고,</a:t>
            </a:r>
          </a:p>
          <a:p xmlns:a="http://schemas.openxmlformats.org/drawingml/2006/main">
            <a:pPr>
              <a:def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사용자는 원하는 뉴스와 시간을 선택합니다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C1D43F1-9B19-4709-8087-977927B0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Google 로그인">
            <a:extLst xmlns:a="http://schemas.openxmlformats.org/drawingml/2006/main">
              <a:ext uri="{FF2B5EF4-FFF2-40B4-BE49-F238E27FC236}">
                <a16:creationId xmlns:a16="http://schemas.microsoft.com/office/drawing/2014/main" id="{A29B9D4E-3DB4-485C-A3F5-27589DD5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Google 로그인</a:t>
            </a:r>
          </a:p>
        </p:txBody>
      </p:sp>
      <p:sp>
        <p:nvSpPr>
          <p:cNvPr id="6" name="로그인 계정의 이메일을 수신 주소로 사용">
            <a:extLst xmlns:a="http://schemas.openxmlformats.org/drawingml/2006/main">
              <a:ext uri="{FF2B5EF4-FFF2-40B4-BE49-F238E27FC236}">
                <a16:creationId xmlns:a16="http://schemas.microsoft.com/office/drawing/2014/main" id="{451226F1-3ABD-4E65-AAD3-DB3F8262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로그인 계정의 이메일을 수신 주소로 사용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BB0521F-1E01-4386-A5CD-3A0D2D1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뉴스 주제 선택">
            <a:extLst xmlns:a="http://schemas.openxmlformats.org/drawingml/2006/main">
              <a:ext uri="{FF2B5EF4-FFF2-40B4-BE49-F238E27FC236}">
                <a16:creationId xmlns:a16="http://schemas.microsoft.com/office/drawing/2014/main" id="{D2922FF8-910E-4697-B914-EF243C8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3857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주제 선택</a:t>
            </a:r>
          </a:p>
        </p:txBody>
      </p:sp>
      <p:sp>
        <p:nvSpPr>
          <p:cNvPr id="9" name="관심 분야와 선택 키워드 설정">
            <a:extLst xmlns:a="http://schemas.openxmlformats.org/drawingml/2006/main">
              <a:ext uri="{FF2B5EF4-FFF2-40B4-BE49-F238E27FC236}">
                <a16:creationId xmlns:a16="http://schemas.microsoft.com/office/drawing/2014/main" id="{91D56D8E-0121-4E64-973D-53A9E95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관심 분야와 선택 키워드 설정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24231E2-9D05-473B-ADF4-A2E9710D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시간·기간 선택">
            <a:extLst xmlns:a="http://schemas.openxmlformats.org/drawingml/2006/main">
              <a:ext uri="{FF2B5EF4-FFF2-40B4-BE49-F238E27FC236}">
                <a16:creationId xmlns:a16="http://schemas.microsoft.com/office/drawing/2014/main" id="{4A2BF947-27C6-4FFB-AF57-0F466F9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시간·기간 선택</a:t>
            </a:r>
          </a:p>
        </p:txBody>
      </p:sp>
      <p:sp>
        <p:nvSpPr>
          <p:cNvPr id="12" name="한국 시간 0~23시, 1·2·4주">
            <a:extLst xmlns:a="http://schemas.openxmlformats.org/drawingml/2006/main">
              <a:ext uri="{FF2B5EF4-FFF2-40B4-BE49-F238E27FC236}">
                <a16:creationId xmlns:a16="http://schemas.microsoft.com/office/drawing/2014/main" id="{9F72DF51-4BFA-4B5D-8DED-FE442A93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한국 시간 0~23시, 1·2·4주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3CAA0CD7-B091-495A-AFD8-A33E9BBC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이메일 수신">
            <a:extLst xmlns:a="http://schemas.openxmlformats.org/drawingml/2006/main">
              <a:ext uri="{FF2B5EF4-FFF2-40B4-BE49-F238E27FC236}">
                <a16:creationId xmlns:a16="http://schemas.microsoft.com/office/drawing/2014/main" id="{22AF0228-D09B-447A-AB09-95FBA88D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29225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이메일 수신</a:t>
            </a:r>
          </a:p>
        </p:txBody>
      </p:sp>
      <p:sp>
        <p:nvSpPr>
          <p:cNvPr id="15" name="다음 날부터 정기 발송, 웹에서 설정·해제">
            <a:extLst xmlns:a="http://schemas.openxmlformats.org/drawingml/2006/main">
              <a:ext uri="{FF2B5EF4-FFF2-40B4-BE49-F238E27FC236}">
                <a16:creationId xmlns:a16="http://schemas.microsoft.com/office/drawing/2014/main" id="{D3D6D095-E68C-45D9-A55F-6D6EB59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48275"/>
            <a:ext cx="700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다음 날부터 정기 발송, 웹에서 설정·해제</a:t>
            </a:r>
          </a:p>
        </p:txBody>
      </p:sp>
    </p:spTree>
    <p:extLst>
      <p:ext uri="{BB962C8B-B14F-4D97-AF65-F5344CB8AC3E}">
        <p14:creationId xmlns:p14="http://schemas.microsoft.com/office/powerpoint/2010/main" val="15177491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배포 화면과 로그인 동선">
            <a:extLst xmlns:a="http://schemas.openxmlformats.org/drawingml/2006/main">
              <a:ext uri="{FF2B5EF4-FFF2-40B4-BE49-F238E27FC236}">
                <a16:creationId xmlns:a16="http://schemas.microsoft.com/office/drawing/2014/main" id="{40E528C5-4CB8-486C-9415-43684169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배포 화면과 로그인 동선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BDBFCD48-BA3B-4A0D-8E5E-433462C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구독 시작과 Google 로그인">
            <a:extLst xmlns:a="http://schemas.openxmlformats.org/drawingml/2006/main">
              <a:ext uri="{FF2B5EF4-FFF2-40B4-BE49-F238E27FC236}">
                <a16:creationId xmlns:a16="http://schemas.microsoft.com/office/drawing/2014/main" id="{100E8D19-5C85-4E31-B7F6-45E516B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구독 시작과 Google 로그인</a:t>
            </a:r>
          </a:p>
        </p:txBody>
      </p:sp>
      <p:sp>
        <p:nvSpPr>
          <p:cNvPr id="4" name="랜딩에서 구독을 시작하면&#10;Google 로그인 화면으로 이동합니다">
            <a:extLst xmlns:a="http://schemas.openxmlformats.org/drawingml/2006/main">
              <a:ext uri="{FF2B5EF4-FFF2-40B4-BE49-F238E27FC236}">
                <a16:creationId xmlns:a16="http://schemas.microsoft.com/office/drawing/2014/main" id="{E7E77CF2-C323-44B2-83B0-B6B7812E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랜딩에서 구독을 시작하면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Google 로그인 화면으로 이동합니다.</a:t>
            </a:r>
          </a:p>
        </p:txBody>
      </p:sp>
      <p:sp>
        <p:nvSpPr>
          <p:cNvPr id="5" name="계정 이메일을 사용하므로&#10;수신 주소를 따로 입력하지 않습니다.">
            <a:extLst xmlns:a="http://schemas.openxmlformats.org/drawingml/2006/main">
              <a:ext uri="{FF2B5EF4-FFF2-40B4-BE49-F238E27FC236}">
                <a16:creationId xmlns:a16="http://schemas.microsoft.com/office/drawing/2014/main" id="{4E4BD5FC-74EC-44CD-AA3D-49C3621A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계정 이메일을 사용하므로</a:t>
            </a:r>
          </a:p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수신 주소를 따로 입력하지 않습니다.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91A4D-3B4B-442A-BA68-1002D11CC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a3a2fddc143ce"/>
          <a:stretch xmlns:a="http://schemas.openxmlformats.org/drawingml/2006/main"/>
        </p:blipFill>
        <p:spPr>
          <a:xfrm xmlns:a="http://schemas.openxmlformats.org/drawingml/2006/main">
            <a:off x="5471709" y="1657350"/>
            <a:ext cx="2839257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68679-6C22-4841-94A7-0761DD52F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2782779154e7d"/>
          <a:stretch xmlns:a="http://schemas.openxmlformats.org/drawingml/2006/main"/>
        </p:blipFill>
        <p:spPr>
          <a:xfrm xmlns:a="http://schemas.openxmlformats.org/drawingml/2006/main">
            <a:off x="8662584" y="1657350"/>
            <a:ext cx="2839257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배포 사이트 실제 캡처 · 로그인 전 화면">
            <a:extLst xmlns:a="http://schemas.openxmlformats.org/drawingml/2006/main">
              <a:ext uri="{FF2B5EF4-FFF2-40B4-BE49-F238E27FC236}">
                <a16:creationId xmlns:a16="http://schemas.microsoft.com/office/drawing/2014/main" id="{527C2423-BC5B-4E2B-9501-21401BE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8674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배포 사이트 실제 캡처 · 로그인 전 화면</a:t>
            </a:r>
          </a:p>
        </p:txBody>
      </p:sp>
    </p:spTree>
    <p:extLst>
      <p:ext uri="{BB962C8B-B14F-4D97-AF65-F5344CB8AC3E}">
        <p14:creationId xmlns:p14="http://schemas.microsoft.com/office/powerpoint/2010/main" val="1907101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뉴스 카드 표현">
            <a:extLst xmlns:a="http://schemas.openxmlformats.org/drawingml/2006/main">
              <a:ext uri="{FF2B5EF4-FFF2-40B4-BE49-F238E27FC236}">
                <a16:creationId xmlns:a16="http://schemas.microsoft.com/office/drawing/2014/main" id="{09E8DC8B-3EA6-4833-AB62-73383C24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뉴스 카드 표현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6BF7DE8D-FF2D-43B6-BE94-8AF1503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오늘의 핵심과 필요한 배경">
            <a:extLst xmlns:a="http://schemas.openxmlformats.org/drawingml/2006/main">
              <a:ext uri="{FF2B5EF4-FFF2-40B4-BE49-F238E27FC236}">
                <a16:creationId xmlns:a16="http://schemas.microsoft.com/office/drawing/2014/main" id="{CBA6FDDA-F464-4E46-8465-69A21D75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오늘의 핵심과 필요한 배경</a:t>
            </a:r>
          </a:p>
        </p:txBody>
      </p:sp>
      <p:sp>
        <p:nvSpPr>
          <p:cNvPr id="4" name="핵심 카드 1장에 원문 출처를 표시합니다.&#10;유효한 과거 근거가 ">
            <a:extLst xmlns:a="http://schemas.openxmlformats.org/drawingml/2006/main">
              <a:ext uri="{FF2B5EF4-FFF2-40B4-BE49-F238E27FC236}">
                <a16:creationId xmlns:a16="http://schemas.microsoft.com/office/drawing/2014/main" id="{365C412B-73CD-48E7-9400-40312526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핵심 카드 1장에 원문 출처를 표시합니다.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유효한 과거 근거가 있으면 배경 카드를</a:t>
            </a:r>
          </a:p>
          <a:p xmlns:a="http://schemas.openxmlformats.org/drawingml/2006/main">
            <a:pPr>
              <a:def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최대 1장 추가합니다.</a:t>
            </a:r>
          </a:p>
        </p:txBody>
      </p:sp>
      <p:sp>
        <p:nvSpPr>
          <p:cNvPr id="5" name="AI 표시와 원문 링크를 함께 제공합니다.&#10;이미지 렌더링 실패 ">
            <a:extLst xmlns:a="http://schemas.openxmlformats.org/drawingml/2006/main">
              <a:ext uri="{FF2B5EF4-FFF2-40B4-BE49-F238E27FC236}">
                <a16:creationId xmlns:a16="http://schemas.microsoft.com/office/drawing/2014/main" id="{69076F07-1859-4A61-AFCD-EE9735B6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638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AI 표시와 원문 링크를 함께 제공합니다.</a:t>
            </a:r>
          </a:p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이미지 렌더링 실패 시 텍스트로 대체합니다.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83A43-2527-4F54-AEFC-BB70FFD5FD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85b1b46304981"/>
          <a:stretch xmlns:a="http://schemas.openxmlformats.org/drawingml/2006/main"/>
        </p:blipFill>
        <p:spPr>
          <a:xfrm xmlns:a="http://schemas.openxmlformats.org/drawingml/2006/main">
            <a:off x="8059684" y="1476375"/>
            <a:ext cx="3235433" cy="4667250"/>
          </a:xfrm>
          <a:prstGeom xmlns:a="http://schemas.openxmlformats.org/drawingml/2006/main" prst="rect">
            <a:avLst/>
          </a:prstGeom>
        </p:spPr>
      </p:pic>
      <p:sp>
        <p:nvSpPr>
          <p:cNvPr id="7" name="사이트의 가상 샘플 · 실제 뉴스·수신 결과 아님">
            <a:extLst xmlns:a="http://schemas.openxmlformats.org/drawingml/2006/main">
              <a:ext uri="{FF2B5EF4-FFF2-40B4-BE49-F238E27FC236}">
                <a16:creationId xmlns:a16="http://schemas.microsoft.com/office/drawing/2014/main" id="{CF884795-9C1D-4F8E-BE08-CF6CB1F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719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사이트의 가상 샘플 · 실제 뉴스·수신 결과 아님</a:t>
            </a:r>
          </a:p>
        </p:txBody>
      </p:sp>
    </p:spTree>
    <p:extLst>
      <p:ext uri="{BB962C8B-B14F-4D97-AF65-F5344CB8AC3E}">
        <p14:creationId xmlns:p14="http://schemas.microsoft.com/office/powerpoint/2010/main" val="1787597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핵심 처리 과정">
            <a:extLst xmlns:a="http://schemas.openxmlformats.org/drawingml/2006/main">
              <a:ext uri="{FF2B5EF4-FFF2-40B4-BE49-F238E27FC236}">
                <a16:creationId xmlns:a16="http://schemas.microsoft.com/office/drawing/2014/main" id="{D9A0BC26-02C7-4273-B186-FA27575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핵심 처리 과정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1689B44D-12ED-4D84-81FD-9067CB7D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A96DEF4E-F63F-47AF-9CC9-7D2207F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수집·저장">
            <a:extLst xmlns:a="http://schemas.openxmlformats.org/drawingml/2006/main">
              <a:ext uri="{FF2B5EF4-FFF2-40B4-BE49-F238E27FC236}">
                <a16:creationId xmlns:a16="http://schemas.microsoft.com/office/drawing/2014/main" id="{EF2DD3A6-53AD-40D4-A384-4E614BE4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7145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수집·저장</a:t>
            </a:r>
          </a:p>
        </p:txBody>
      </p:sp>
      <p:sp>
        <p:nvSpPr>
          <p:cNvPr id="5" name="RSS와 기사 본문·날짜·분야를 검사하고 저장">
            <a:extLst xmlns:a="http://schemas.openxmlformats.org/drawingml/2006/main">
              <a:ext uri="{FF2B5EF4-FFF2-40B4-BE49-F238E27FC236}">
                <a16:creationId xmlns:a16="http://schemas.microsoft.com/office/drawing/2014/main" id="{772FC6CD-149D-4CDF-BC83-8BE57641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4307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RSS와 기사 본문·날짜·분야를 검사하고 저장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12479DFE-22CE-4268-A2EB-598E7095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개인화 선별">
            <a:extLst xmlns:a="http://schemas.openxmlformats.org/drawingml/2006/main">
              <a:ext uri="{FF2B5EF4-FFF2-40B4-BE49-F238E27FC236}">
                <a16:creationId xmlns:a16="http://schemas.microsoft.com/office/drawing/2014/main" id="{84E7F849-A047-4502-92D4-160EE54E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622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개인화 선별</a:t>
            </a:r>
          </a:p>
        </p:txBody>
      </p:sp>
      <p:sp>
        <p:nvSpPr>
          <p:cNvPr id="8" name="최근 24시간 후보에서 키워드 우선, 없으면 관심 분야로 대체">
            <a:extLst xmlns:a="http://schemas.openxmlformats.org/drawingml/2006/main">
              <a:ext uri="{FF2B5EF4-FFF2-40B4-BE49-F238E27FC236}">
                <a16:creationId xmlns:a16="http://schemas.microsoft.com/office/drawing/2014/main" id="{C604B933-E84D-479C-8B91-08C930DD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90800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최근 24시간 후보에서 키워드 우선, 없으면 관심 분야로 대체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E33D1B5E-C6E7-4F65-807D-3ADE59B3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과거 근거 검색">
            <a:extLst xmlns:a="http://schemas.openxmlformats.org/drawingml/2006/main">
              <a:ext uri="{FF2B5EF4-FFF2-40B4-BE49-F238E27FC236}">
                <a16:creationId xmlns:a16="http://schemas.microsoft.com/office/drawing/2014/main" id="{06588B33-66C8-42F6-8CA1-14251E6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099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과거 근거 검색</a:t>
            </a:r>
          </a:p>
        </p:txBody>
      </p:sp>
      <p:sp>
        <p:nvSpPr>
          <p:cNvPr id="11" name="동일 분야의 유효한 과거 기사에서 배경 근거 검색">
            <a:extLst xmlns:a="http://schemas.openxmlformats.org/drawingml/2006/main">
              <a:ext uri="{FF2B5EF4-FFF2-40B4-BE49-F238E27FC236}">
                <a16:creationId xmlns:a16="http://schemas.microsoft.com/office/drawing/2014/main" id="{08FDA6AD-A80D-4C97-BD58-3537E9B9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3852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동일 분야의 유효한 과거 기사에서 배경 근거 검색</a:t>
            </a:r>
          </a:p>
        </p:txBody>
      </p:sp>
      <p:sp>
        <p:nvSpPr>
          <p:cNvPr id="12" name="04">
            <a:extLst xmlns:a="http://schemas.openxmlformats.org/drawingml/2006/main">
              <a:ext uri="{FF2B5EF4-FFF2-40B4-BE49-F238E27FC236}">
                <a16:creationId xmlns:a16="http://schemas.microsoft.com/office/drawing/2014/main" id="{2AFBD8C6-6535-4227-A357-73AF695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3" name="AI 생성·검사">
            <a:extLst xmlns:a="http://schemas.openxmlformats.org/drawingml/2006/main">
              <a:ext uri="{FF2B5EF4-FFF2-40B4-BE49-F238E27FC236}">
                <a16:creationId xmlns:a16="http://schemas.microsoft.com/office/drawing/2014/main" id="{814E9DA2-156C-466B-BD6E-569A993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257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AI 생성·검사</a:t>
            </a:r>
          </a:p>
        </p:txBody>
      </p:sp>
      <p:sp>
        <p:nvSpPr>
          <p:cNvPr id="14" name="원문 발췌 카드 JSON을 생성하고 구조·근거·수치를 검사">
            <a:extLst xmlns:a="http://schemas.openxmlformats.org/drawingml/2006/main">
              <a:ext uri="{FF2B5EF4-FFF2-40B4-BE49-F238E27FC236}">
                <a16:creationId xmlns:a16="http://schemas.microsoft.com/office/drawing/2014/main" id="{60B0D41D-B780-4676-8B61-21A42595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86250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원문 발췌 카드 JSON을 생성하고 구조·근거·수치를 검사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A4BE0567-703F-45CF-8B26-2E96046C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00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6" name="표현·전송">
            <a:extLst xmlns:a="http://schemas.openxmlformats.org/drawingml/2006/main">
              <a:ext uri="{FF2B5EF4-FFF2-40B4-BE49-F238E27FC236}">
                <a16:creationId xmlns:a16="http://schemas.microsoft.com/office/drawing/2014/main" id="{ED99FAC2-5D62-4988-9041-A46DFE49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0540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표현·전송</a:t>
            </a:r>
          </a:p>
        </p:txBody>
      </p:sp>
      <p:sp>
        <p:nvSpPr>
          <p:cNvPr id="17" name="필요한 한국어 변환, 이미지 렌더링, 개인별 메일 조립·SMTP">
            <a:extLst xmlns:a="http://schemas.openxmlformats.org/drawingml/2006/main">
              <a:ext uri="{FF2B5EF4-FFF2-40B4-BE49-F238E27FC236}">
                <a16:creationId xmlns:a16="http://schemas.microsoft.com/office/drawing/2014/main" id="{74234C97-AB43-4102-B24A-6FA29EE4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33975"/>
            <a:ext cx="719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필요한 한국어 변환, 이미지 렌더링, 개인별 메일 조립·SMTP</a:t>
            </a:r>
          </a:p>
        </p:txBody>
      </p:sp>
    </p:spTree>
    <p:extLst>
      <p:ext uri="{BB962C8B-B14F-4D97-AF65-F5344CB8AC3E}">
        <p14:creationId xmlns:p14="http://schemas.microsoft.com/office/powerpoint/2010/main" val="343673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생성형 AI의 역할과 검증">
            <a:extLst xmlns:a="http://schemas.openxmlformats.org/drawingml/2006/main">
              <a:ext uri="{FF2B5EF4-FFF2-40B4-BE49-F238E27FC236}">
                <a16:creationId xmlns:a16="http://schemas.microsoft.com/office/drawing/2014/main" id="{D8C217EE-9910-45FF-B0DE-5E297F64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생성형 AI의 역할과 검증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AA47BCA9-A43E-447C-A1F4-0AFDB5DE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LLM이 수행하는 작업">
            <a:extLst xmlns:a="http://schemas.openxmlformats.org/drawingml/2006/main">
              <a:ext uri="{FF2B5EF4-FFF2-40B4-BE49-F238E27FC236}">
                <a16:creationId xmlns:a16="http://schemas.microsoft.com/office/drawing/2014/main" id="{883D539A-B8BE-470F-BB9D-383C9BC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LLM이 수행하는 작업</a:t>
            </a:r>
          </a:p>
        </p:txBody>
      </p:sp>
      <p:sp>
        <p:nvSpPr>
          <p:cNvPr id="4" name="원문에서 핵심 사건과 근거를 발췌·구성&#10;검색된 과거 기사로 배경">
            <a:extLst xmlns:a="http://schemas.openxmlformats.org/drawingml/2006/main">
              <a:ext uri="{FF2B5EF4-FFF2-40B4-BE49-F238E27FC236}">
                <a16:creationId xmlns:a16="http://schemas.microsoft.com/office/drawing/2014/main" id="{72D1821E-0C85-4F9C-8AFA-1C300EA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원문에서 핵심 사건과 근거를 발췌·구성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검색된 과거 기사로 배경 카드 구성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영문 중심 표시 문구를 한국어로 변환</a:t>
            </a:r>
          </a:p>
        </p:txBody>
      </p:sp>
      <p:sp>
        <p:nvSpPr>
          <p:cNvPr id="5" name="코드가 검사하는 기준">
            <a:extLst xmlns:a="http://schemas.openxmlformats.org/drawingml/2006/main">
              <a:ext uri="{FF2B5EF4-FFF2-40B4-BE49-F238E27FC236}">
                <a16:creationId xmlns:a16="http://schemas.microsoft.com/office/drawing/2014/main" id="{43437ADA-BE0C-4FC1-A95E-D2F73236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7430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코드가 검사하는 기준</a:t>
            </a:r>
          </a:p>
        </p:txBody>
      </p:sp>
      <p:sp>
        <p:nvSpPr>
          <p:cNvPr id="6" name="JSON 구조와 표시 길이&#10;발췌 문장과 원문 근거의 일치&#10;수치 ">
            <a:extLst xmlns:a="http://schemas.openxmlformats.org/drawingml/2006/main">
              <a:ext uri="{FF2B5EF4-FFF2-40B4-BE49-F238E27FC236}">
                <a16:creationId xmlns:a16="http://schemas.microsoft.com/office/drawing/2014/main" id="{E413C7DA-6854-41C1-B562-B13ECFE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336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JSON 구조와 표시 길이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발췌 문장과 원문 근거의 일치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수치 메타데이터·명시 날짜·출처</a:t>
            </a:r>
          </a:p>
          <a:p xmlns:a="http://schemas.openxmlformats.org/drawingml/2006/main">
            <a:pPr>
              <a:def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번역 전후 숫자 표기 유지</a:t>
            </a:r>
          </a:p>
        </p:txBody>
      </p:sp>
      <p:sp>
        <p:nvSpPr>
          <p:cNvPr id="7" name="개인화 선별은 설정·이력 기반 규칙입니다. 원문 사실성과 번역 ">
            <a:extLst xmlns:a="http://schemas.openxmlformats.org/drawingml/2006/main">
              <a:ext uri="{FF2B5EF4-FFF2-40B4-BE49-F238E27FC236}">
                <a16:creationId xmlns:a16="http://schemas.microsoft.com/office/drawing/2014/main" id="{307D3974-AB9B-4159-8975-BF76C25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개인화 선별은 설정·이력 기반 규칙입니다. 원문 사실성과 번역 의미의 완전한 판별은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29740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AG 설계와 근거 선택">
            <a:extLst xmlns:a="http://schemas.openxmlformats.org/drawingml/2006/main">
              <a:ext uri="{FF2B5EF4-FFF2-40B4-BE49-F238E27FC236}">
                <a16:creationId xmlns:a16="http://schemas.microsoft.com/office/drawing/2014/main" id="{15EBCD47-E13A-47D3-AF0E-0359C90E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RAG 설계와 근거 선택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B949ADC-2DF2-4944-9061-CE35FA1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multilingual-e5-small과 Firestore 벡터">
            <a:extLst xmlns:a="http://schemas.openxmlformats.org/drawingml/2006/main">
              <a:ext uri="{FF2B5EF4-FFF2-40B4-BE49-F238E27FC236}">
                <a16:creationId xmlns:a16="http://schemas.microsoft.com/office/drawing/2014/main" id="{7652FF07-1974-4535-BBDE-817BBEB9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multilingual-e5-small과 Firestore 벡터 검색</a:t>
            </a:r>
          </a:p>
        </p:txBody>
      </p:sp>
      <p:sp>
        <p:nvSpPr>
          <p:cNvPr id="4" name="384">
            <a:extLst xmlns:a="http://schemas.openxmlformats.org/drawingml/2006/main">
              <a:ext uri="{FF2B5EF4-FFF2-40B4-BE49-F238E27FC236}">
                <a16:creationId xmlns:a16="http://schemas.microsoft.com/office/drawing/2014/main" id="{5413C85C-33AA-4143-B86D-43FA9BE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384</a:t>
            </a:r>
          </a:p>
        </p:txBody>
      </p:sp>
      <p:sp>
        <p:nvSpPr>
          <p:cNvPr id="5" name="임베딩 차원">
            <a:extLst xmlns:a="http://schemas.openxmlformats.org/drawingml/2006/main">
              <a:ext uri="{FF2B5EF4-FFF2-40B4-BE49-F238E27FC236}">
                <a16:creationId xmlns:a16="http://schemas.microsoft.com/office/drawing/2014/main" id="{E8E95795-CB12-46A7-BB34-10FE01CD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임베딩 차원</a:t>
            </a:r>
          </a:p>
        </p:txBody>
      </p:sp>
      <p:sp>
        <p:nvSpPr>
          <p:cNvPr id="6" name="5">
            <a:extLst xmlns:a="http://schemas.openxmlformats.org/drawingml/2006/main">
              <a:ext uri="{FF2B5EF4-FFF2-40B4-BE49-F238E27FC236}">
                <a16:creationId xmlns:a16="http://schemas.microsoft.com/office/drawing/2014/main" id="{F8925740-5770-4BD4-8577-92DF61D4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7" name="검색 후보 최대">
            <a:extLst xmlns:a="http://schemas.openxmlformats.org/drawingml/2006/main">
              <a:ext uri="{FF2B5EF4-FFF2-40B4-BE49-F238E27FC236}">
                <a16:creationId xmlns:a16="http://schemas.microsoft.com/office/drawing/2014/main" id="{DD404942-E45A-4C5D-9557-259EB43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검색 후보 최대</a:t>
            </a:r>
          </a:p>
        </p:txBody>
      </p:sp>
      <p:sp>
        <p:nvSpPr>
          <p:cNvPr id="8" name="3">
            <a:extLst xmlns:a="http://schemas.openxmlformats.org/drawingml/2006/main">
              <a:ext uri="{FF2B5EF4-FFF2-40B4-BE49-F238E27FC236}">
                <a16:creationId xmlns:a16="http://schemas.microsoft.com/office/drawing/2014/main" id="{41612BF2-69FF-4784-80A3-C9271B1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사용 근거 최대">
            <a:extLst xmlns:a="http://schemas.openxmlformats.org/drawingml/2006/main">
              <a:ext uri="{FF2B5EF4-FFF2-40B4-BE49-F238E27FC236}">
                <a16:creationId xmlns:a16="http://schemas.microsoft.com/office/drawing/2014/main" id="{4044DB8F-9E06-4C7C-9F37-595C4222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사용 근거 최대</a:t>
            </a:r>
          </a:p>
        </p:txBody>
      </p:sp>
      <p:sp>
        <p:nvSpPr>
          <p:cNvPr id="10" name="같은 분야, 작업일 이전, 유효한 본문·출처·벡터를 가진 기사만">
            <a:extLst xmlns:a="http://schemas.openxmlformats.org/drawingml/2006/main">
              <a:ext uri="{FF2B5EF4-FFF2-40B4-BE49-F238E27FC236}">
                <a16:creationId xmlns:a16="http://schemas.microsoft.com/office/drawing/2014/main" id="{517840D4-AA40-4061-AD4F-B5A7C53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715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같은 분야, 작업일 이전, 유효한 본문·출처·벡터를 가진 기사만 검색합니다.</a:t>
            </a:r>
          </a:p>
          <a:p xmlns:a="http://schemas.openxmlformats.org/drawingml/2006/main">
            <a:pPr>
              <a:def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기본 유사도 기준은 0.85이며, 모델 버전과 사용 근거 ID를 기록합니다.</a:t>
            </a:r>
          </a:p>
        </p:txBody>
      </p:sp>
      <p:sp>
        <p:nvSpPr>
          <p:cNvPr id="11" name="유사도는 사실 확률이 아닙니다. 근거 부족·검색 실패 시 배경 ">
            <a:extLst xmlns:a="http://schemas.openxmlformats.org/drawingml/2006/main">
              <a:ext uri="{FF2B5EF4-FFF2-40B4-BE49-F238E27FC236}">
                <a16:creationId xmlns:a16="http://schemas.microsoft.com/office/drawing/2014/main" id="{87874598-95BC-4FB6-B099-A8A1EBCB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유사도는 사실 확률이 아닙니다. 근거 부족·검색 실패 시 배경 카드를 생략합니다.</a:t>
            </a:r>
          </a:p>
        </p:txBody>
      </p:sp>
    </p:spTree>
    <p:extLst>
      <p:ext uri="{BB962C8B-B14F-4D97-AF65-F5344CB8AC3E}">
        <p14:creationId xmlns:p14="http://schemas.microsoft.com/office/powerpoint/2010/main" val="8568784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시스템 구성">
            <a:extLst xmlns:a="http://schemas.openxmlformats.org/drawingml/2006/main">
              <a:ext uri="{FF2B5EF4-FFF2-40B4-BE49-F238E27FC236}">
                <a16:creationId xmlns:a16="http://schemas.microsoft.com/office/drawing/2014/main" id="{6E985EBF-216E-4E6D-B3AA-8BE5258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시스템 구성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40DC3A1-0B4C-4E9D-A1F9-A0644E1B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34940-B29C-4901-9DB0-EAFF2048B2DE}"/>
              </a:ext>
            </a:extLst>
          </p:cNvPr>
          <p:cNvGraphicFramePr/>
          <p:nvPr/>
        </p:nvGraphicFramePr>
        <p:xfrm>
          <a:off xmlns:a="http://schemas.openxmlformats.org/drawingml/2006/main" x="685800" y="1743075"/>
          <a:ext xmlns:a="http://schemas.openxmlformats.org/drawingml/2006/main" cx="108204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429000"/>
                <a:gridCol w="5153025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화면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HTML/CSS/JS · Vercel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구독 설정·관리, 피드백 입력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인증·API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Firebase Auth · FastAPI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로그인, 토큰·소유권 검사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Cloud Firestore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구독·기사·벡터·근거·발송 상태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엔진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· Chat API · E5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수집·선별·검색·카드 생성·검사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실행·전달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Actions · Playwright · SMTP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 실행, 이미지·메일 조립·전송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4" name="웹 데이터 처리는 Backend API를 거칩니다. 개인정보 정">
            <a:extLst xmlns:a="http://schemas.openxmlformats.org/drawingml/2006/main">
              <a:ext uri="{FF2B5EF4-FFF2-40B4-BE49-F238E27FC236}">
                <a16:creationId xmlns:a16="http://schemas.microsoft.com/office/drawing/2014/main" id="{CCB9C87A-AF3B-4EFE-BC96-43ABA86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웹 데이터 처리는 Backend API를 거칩니다. 개인정보 정리는 독립 Actions 작업으로도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19448196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기술 선택의 근거">
            <a:extLst xmlns:a="http://schemas.openxmlformats.org/drawingml/2006/main">
              <a:ext uri="{FF2B5EF4-FFF2-40B4-BE49-F238E27FC236}">
                <a16:creationId xmlns:a16="http://schemas.microsoft.com/office/drawing/2014/main" id="{FF1880C6-A3C6-4A80-B10D-FEC2AC2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기술 선택의 근거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F582C49E-9809-435C-A546-6820814B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A70B6-0EB3-42DB-8D7C-23F44FA93949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4038600"/>
                <a:gridCol w="38100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이유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고려할 제약</a:t>
                      </a:r>
                    </a:p>
                  </a:txBody>
                  <a:tcPr marL="171450" marR="171450" marT="114300" marB="114300" anchor="ctr">
                    <a:solidFill>
                      <a:srgbClr val="15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 · Python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API와 기사·AI 처리 코드 연결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API와 무거운 배치 실행 분리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Firebase · Firestore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인증·문서·벡터·트랜잭션 구성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IAM과 API 소유권 검사 필요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E5 로컬 임베딩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검색, CPU 실행·버전 고정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준비와 실제 검색 품질 확인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GitHub Actions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배치 실행 환경과 예약·수동 복구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예약 지연·누락 가능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HTML/CSS · Playwright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검사된 텍스트와 카드 디자인 통제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523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폰트·이미지 용량·메일 표시 확인</a:t>
                      </a:r>
                    </a:p>
                  </a:txBody>
                  <a:tcPr marL="171450" marR="171450" marT="114300" marB="114300" anchor="ctr">
                    <a:solidFill>
                      <a:srgbClr val="FFF9F1"/>
                    </a:solidFill>
                  </a:tcPr>
                </a:tc>
              </a:tr>
            </a:tbl>
          </a:graphicData>
        </a:graphic>
      </p:graphicFrame>
      <p:sp>
        <p:nvSpPr>
          <p:cNvPr id="4" name="카드 이미지는 고정 템플릿 렌더링으로 만듭니다. 생성형 이미지 ">
            <a:extLst xmlns:a="http://schemas.openxmlformats.org/drawingml/2006/main">
              <a:ext uri="{FF2B5EF4-FFF2-40B4-BE49-F238E27FC236}">
                <a16:creationId xmlns:a16="http://schemas.microsoft.com/office/drawing/2014/main" id="{3F219BE2-F514-49F6-BD14-22A4A45E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카드 이미지는 고정 템플릿 렌더링으로 만듭니다. 생성형 이미지 모델은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28805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발송과 장애 대응 설계">
            <a:extLst xmlns:a="http://schemas.openxmlformats.org/drawingml/2006/main">
              <a:ext uri="{FF2B5EF4-FFF2-40B4-BE49-F238E27FC236}">
                <a16:creationId xmlns:a16="http://schemas.microsoft.com/office/drawing/2014/main" id="{2F0EF081-1087-4AB3-93F3-ABA9643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발송과 장애 대응 설계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D4A5A5D-AC4F-43B1-82F5-AD1C3EFB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중복 방지">
            <a:extLst xmlns:a="http://schemas.openxmlformats.org/drawingml/2006/main">
              <a:ext uri="{FF2B5EF4-FFF2-40B4-BE49-F238E27FC236}">
                <a16:creationId xmlns:a16="http://schemas.microsoft.com/office/drawing/2014/main" id="{57C08906-F75B-4A36-AB4F-C3D79E98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중복 방지</a:t>
            </a:r>
          </a:p>
        </p:txBody>
      </p:sp>
      <p:sp>
        <p:nvSpPr>
          <p:cNvPr id="4" name="고정 작업 ID와 Firestore 트랜잭션 선점, 완료 결과 ">
            <a:extLst xmlns:a="http://schemas.openxmlformats.org/drawingml/2006/main">
              <a:ext uri="{FF2B5EF4-FFF2-40B4-BE49-F238E27FC236}">
                <a16:creationId xmlns:a16="http://schemas.microsoft.com/office/drawing/2014/main" id="{AE51D955-50D2-47AB-98CB-1CC80A8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8117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고정 작업 ID와 Firestore 트랜잭션 선점, 완료 결과 재사용</a:t>
            </a:r>
          </a:p>
        </p:txBody>
      </p:sp>
      <p:sp>
        <p:nvSpPr>
          <p:cNvPr id="5" name="불확실한 전송">
            <a:extLst xmlns:a="http://schemas.openxmlformats.org/drawingml/2006/main">
              <a:ext uri="{FF2B5EF4-FFF2-40B4-BE49-F238E27FC236}">
                <a16:creationId xmlns:a16="http://schemas.microsoft.com/office/drawing/2014/main" id="{189662D2-1A90-433A-B27D-E737C3BA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불확실한 전송</a:t>
            </a:r>
          </a:p>
        </p:txBody>
      </p:sp>
      <p:sp>
        <p:nvSpPr>
          <p:cNvPr id="6" name="SMTP 결과가 불명확하면 unknown으로 기록하고 자동 재발">
            <a:extLst xmlns:a="http://schemas.openxmlformats.org/drawingml/2006/main">
              <a:ext uri="{FF2B5EF4-FFF2-40B4-BE49-F238E27FC236}">
                <a16:creationId xmlns:a16="http://schemas.microsoft.com/office/drawing/2014/main" id="{89B33AFA-8005-47CE-A737-4DF0D5B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09850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SMTP 결과가 불명확하면 unknown으로 기록하고 자동 재발송 중단</a:t>
            </a:r>
          </a:p>
        </p:txBody>
      </p:sp>
      <p:sp>
        <p:nvSpPr>
          <p:cNvPr id="7" name="대체 동작">
            <a:extLst xmlns:a="http://schemas.openxmlformats.org/drawingml/2006/main">
              <a:ext uri="{FF2B5EF4-FFF2-40B4-BE49-F238E27FC236}">
                <a16:creationId xmlns:a16="http://schemas.microsoft.com/office/drawing/2014/main" id="{04A1919D-27E2-4D3E-BEEF-510ABA1D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대체 동작</a:t>
            </a:r>
          </a:p>
        </p:txBody>
      </p:sp>
      <p:sp>
        <p:nvSpPr>
          <p:cNvPr id="8" name="RAG 근거 부족 시 배경 생략, 이미지 실패 시 텍스트 제공">
            <a:extLst xmlns:a="http://schemas.openxmlformats.org/drawingml/2006/main">
              <a:ext uri="{FF2B5EF4-FFF2-40B4-BE49-F238E27FC236}">
                <a16:creationId xmlns:a16="http://schemas.microsoft.com/office/drawing/2014/main" id="{47580A1B-A3B4-4928-A1F7-839D92E0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RAG 근거 부족 시 배경 생략, 이미지 실패 시 텍스트 제공</a:t>
            </a:r>
          </a:p>
        </p:txBody>
      </p:sp>
      <p:sp>
        <p:nvSpPr>
          <p:cNvPr id="9" name="호출 제한">
            <a:extLst xmlns:a="http://schemas.openxmlformats.org/drawingml/2006/main">
              <a:ext uri="{FF2B5EF4-FFF2-40B4-BE49-F238E27FC236}">
                <a16:creationId xmlns:a16="http://schemas.microsoft.com/office/drawing/2014/main" id="{8E9807D4-1058-4353-9C3C-C7F77A5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호출 제한</a:t>
            </a:r>
          </a:p>
        </p:txBody>
      </p:sp>
      <p:sp>
        <p:nvSpPr>
          <p:cNvPr id="10" name="동일 생성 작업 최대 2회, 명확한 일시 SMTP 실패만 최대 ">
            <a:extLst xmlns:a="http://schemas.openxmlformats.org/drawingml/2006/main">
              <a:ext uri="{FF2B5EF4-FFF2-40B4-BE49-F238E27FC236}">
                <a16:creationId xmlns:a16="http://schemas.microsoft.com/office/drawing/2014/main" id="{BF572C7F-B44F-4094-9238-0B72469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67200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동일 생성 작업 최대 2회, 명확한 일시 SMTP 실패만 최대 3회</a:t>
            </a:r>
          </a:p>
        </p:txBody>
      </p:sp>
      <p:sp>
        <p:nvSpPr>
          <p:cNvPr id="11" name="개인정보">
            <a:extLst xmlns:a="http://schemas.openxmlformats.org/drawingml/2006/main">
              <a:ext uri="{FF2B5EF4-FFF2-40B4-BE49-F238E27FC236}">
                <a16:creationId xmlns:a16="http://schemas.microsoft.com/office/drawing/2014/main" id="{955E7E31-FEB3-45DE-90F7-596A37D7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E67700"/>
                </a:solidFill>
                <a:latin typeface="Malgun Gothic"/>
                <a:ea typeface="Malgun Gothic"/>
                <a:cs typeface="Malgun Gothic"/>
              </a:rPr>
              <a:t>개인정보</a:t>
            </a:r>
          </a:p>
        </p:txBody>
      </p:sp>
      <p:sp>
        <p:nvSpPr>
          <p:cNvPr id="12" name="발송 직전 구독·삭제 상태 확인, 비밀값은 서버 설정·Secre">
            <a:extLst xmlns:a="http://schemas.openxmlformats.org/drawingml/2006/main">
              <a:ext uri="{FF2B5EF4-FFF2-40B4-BE49-F238E27FC236}">
                <a16:creationId xmlns:a16="http://schemas.microsoft.com/office/drawing/2014/main" id="{C377FFE2-70B1-4F1A-99C2-DCF7FAED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95875"/>
            <a:ext cx="800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발송 직전 구독·삭제 상태 확인, 비밀값은 서버 설정·Secrets 관리</a:t>
            </a:r>
          </a:p>
        </p:txBody>
      </p:sp>
      <p:sp>
        <p:nvSpPr>
          <p:cNvPr id="13" name="정기 발송과 미리보기 요청 모두 실제 수신 시각을 보장하지 않습">
            <a:extLst xmlns:a="http://schemas.openxmlformats.org/drawingml/2006/main">
              <a:ext uri="{FF2B5EF4-FFF2-40B4-BE49-F238E27FC236}">
                <a16:creationId xmlns:a16="http://schemas.microsoft.com/office/drawing/2014/main" id="{3704172E-1914-4F73-A81C-1111708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정기 발송과 미리보기 요청 모두 실제 수신 시각을 보장하지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7023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사용자 피드백">
            <a:extLst xmlns:a="http://schemas.openxmlformats.org/drawingml/2006/main">
              <a:ext uri="{FF2B5EF4-FFF2-40B4-BE49-F238E27FC236}">
                <a16:creationId xmlns:a16="http://schemas.microsoft.com/office/drawing/2014/main" id="{D6DE0927-BDF6-42AB-8431-974F6B3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사용자 피드백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20DA6388-DA80-4F4F-A158-8B024C4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5259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개선 사항">
            <a:extLst xmlns:a="http://schemas.openxmlformats.org/drawingml/2006/main">
              <a:ext uri="{FF2B5EF4-FFF2-40B4-BE49-F238E27FC236}">
                <a16:creationId xmlns:a16="http://schemas.microsoft.com/office/drawing/2014/main" id="{22F437EA-62A5-4F03-9BDF-A33C433B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2332"/>
                </a:solidFill>
                <a:latin typeface="Malgun Gothic"/>
                <a:ea typeface="Malgun Gothic"/>
                <a:cs typeface="Malgun Gothic"/>
              </a:rPr>
              <a:t>개선 사항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96AF74B9-8EC0-4A44-853D-C65FB65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4606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577930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서비스와 소스 코드">
            <a:extLst xmlns:a="http://schemas.openxmlformats.org/drawingml/2006/main">
              <a:ext uri="{FF2B5EF4-FFF2-40B4-BE49-F238E27FC236}">
                <a16:creationId xmlns:a16="http://schemas.microsoft.com/office/drawing/2014/main" id="{0A0027F5-B3DD-498D-929C-81EB8708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서비스와 소스 코드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A4F9D381-8760-40E6-825C-61F25C7F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5CDD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원하는 뉴스를 편리하게 받아보고 싶은 사람을 위한&#10;AI 기반 이">
            <a:extLst xmlns:a="http://schemas.openxmlformats.org/drawingml/2006/main">
              <a:ext uri="{FF2B5EF4-FFF2-40B4-BE49-F238E27FC236}">
                <a16:creationId xmlns:a16="http://schemas.microsoft.com/office/drawing/2014/main" id="{BFFBAE13-D7F3-414E-B843-A487D2E7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원하는 뉴스를 편리하게 받아보고 싶은 사람을 위한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기반 이메일 구독 서비스</a:t>
            </a:r>
          </a:p>
        </p:txBody>
      </p:sp>
      <p:sp>
        <p:nvSpPr>
          <p:cNvPr id="4" name="서비스">
            <a:extLst xmlns:a="http://schemas.openxmlformats.org/drawingml/2006/main">
              <a:ext uri="{FF2B5EF4-FFF2-40B4-BE49-F238E27FC236}">
                <a16:creationId xmlns:a16="http://schemas.microsoft.com/office/drawing/2014/main" id="{F9209A3A-A67F-4AD6-A8BC-FB947F2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5" name="ai-news-card-frontend.vercel.app">
            <a:extLst xmlns:a="http://schemas.openxmlformats.org/drawingml/2006/main">
              <a:ext uri="{FF2B5EF4-FFF2-40B4-BE49-F238E27FC236}">
                <a16:creationId xmlns:a16="http://schemas.microsoft.com/office/drawing/2014/main" id="{A892EA3C-DC35-4754-8F45-0ED60934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195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296c73b5ee5846fb"/>
              </a:rPr>
              <a:t>ai-news-card-frontend.vercel.app</a:t>
            </a:r>
          </a:p>
        </p:txBody>
      </p:sp>
      <p:sp>
        <p:nvSpPr>
          <p:cNvPr id="6" name="GitHub">
            <a:extLst xmlns:a="http://schemas.openxmlformats.org/drawingml/2006/main">
              <a:ext uri="{FF2B5EF4-FFF2-40B4-BE49-F238E27FC236}">
                <a16:creationId xmlns:a16="http://schemas.microsoft.com/office/drawing/2014/main" id="{A9C0C89D-DDC9-40C0-9A1B-CB242910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C475"/>
                </a:solidFill>
                <a:latin typeface="Malgun Gothic"/>
                <a:ea typeface="Malgun Gothic"/>
                <a:cs typeface="Malgun Gothic"/>
              </a:rPr>
              <a:t>GitHub</a:t>
            </a:r>
          </a:p>
        </p:txBody>
      </p:sp>
      <p:sp>
        <p:nvSpPr>
          <p:cNvPr id="7" name="github.com/contest-p/ai-news-card">
            <a:extLst xmlns:a="http://schemas.openxmlformats.org/drawingml/2006/main">
              <a:ext uri="{FF2B5EF4-FFF2-40B4-BE49-F238E27FC236}">
                <a16:creationId xmlns:a16="http://schemas.microsoft.com/office/drawing/2014/main" id="{0199EF76-F33E-4E7E-97E3-88C20C8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0537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hlinkClick xmlns:r="http://schemas.openxmlformats.org/officeDocument/2006/relationships" r:id="R033d2c4002e04895"/>
              </a:rPr>
              <a:t>github.com/contest-p/ai-news-card</a:t>
            </a:r>
          </a:p>
        </p:txBody>
      </p:sp>
    </p:spTree>
    <p:extLst>
      <p:ext uri="{BB962C8B-B14F-4D97-AF65-F5344CB8AC3E}">
        <p14:creationId xmlns:p14="http://schemas.microsoft.com/office/powerpoint/2010/main" val="458017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2026-10-10T02:50:55.9750000Z</dcterms:created>
  <dcterms:modified xsi:type="dcterms:W3CDTF">2026-10-10T02:50:55.9750000Z</dcterms:modified>
</coreProperties>
</file>